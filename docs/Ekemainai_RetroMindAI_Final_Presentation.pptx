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8" r:id="rId3"/>
    <p:sldId id="258" r:id="rId4"/>
    <p:sldId id="259" r:id="rId5"/>
    <p:sldId id="269" r:id="rId6"/>
    <p:sldId id="260" r:id="rId7"/>
    <p:sldId id="264" r:id="rId8"/>
    <p:sldId id="265" r:id="rId9"/>
    <p:sldId id="261" r:id="rId10"/>
    <p:sldId id="266" r:id="rId11"/>
    <p:sldId id="262" r:id="rId12"/>
    <p:sldId id="267" r:id="rId13"/>
    <p:sldId id="26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8"/>
  </p:normalViewPr>
  <p:slideViewPr>
    <p:cSldViewPr snapToGrid="0">
      <p:cViewPr varScale="1">
        <p:scale>
          <a:sx n="139" d="100"/>
          <a:sy n="139" d="100"/>
        </p:scale>
        <p:origin x="84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903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084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3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467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07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524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021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ET AutoTech Hackathon 2026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37687"/>
            <a:ext cx="8520600" cy="1756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sz="1800" dirty="0">
                <a:solidFill>
                  <a:schemeClr val="bg1"/>
                </a:solidFill>
              </a:rPr>
              <a:t>Theme: AI for EV Retrofit &amp; Conversion Ecosystem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Name: </a:t>
            </a:r>
            <a:r>
              <a:rPr sz="1800" dirty="0" err="1">
                <a:solidFill>
                  <a:schemeClr val="bg1"/>
                </a:solidFill>
              </a:rPr>
              <a:t>Ekemainai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Members:</a:t>
            </a:r>
          </a:p>
          <a:p>
            <a:r>
              <a:rPr sz="1800" dirty="0">
                <a:solidFill>
                  <a:schemeClr val="bg1"/>
                </a:solidFill>
              </a:rPr>
              <a:t>• Ekemini </a:t>
            </a:r>
            <a:r>
              <a:rPr sz="1800" dirty="0" err="1">
                <a:solidFill>
                  <a:schemeClr val="bg1"/>
                </a:solidFill>
              </a:rPr>
              <a:t>Ini</a:t>
            </a:r>
            <a:r>
              <a:rPr sz="1800" dirty="0">
                <a:solidFill>
                  <a:schemeClr val="bg1"/>
                </a:solidFill>
              </a:rPr>
              <a:t> Stephen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98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Theme Chosen - Brief Summary &amp; Proposed Solution/Idea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766886"/>
            <a:ext cx="8520600" cy="4196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dirty="0">
                <a:solidFill>
                  <a:schemeClr val="bg1"/>
                </a:solidFill>
              </a:rPr>
              <a:t>RetroMind AI is a production-ready EV retrofit intelligence platform </a:t>
            </a:r>
            <a:r>
              <a:rPr lang="en-GB" sz="1800" dirty="0">
                <a:solidFill>
                  <a:schemeClr val="bg1"/>
                </a:solidFill>
              </a:rPr>
              <a:t>designed for imperfect real-world vehicles.</a:t>
            </a:r>
          </a:p>
          <a:p>
            <a:endParaRPr lang="en-GB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Unlike conventional retrofit systems, RetroMind AI continuously learns from every retrofit performed across workshops to improve future retrofit recommendations.</a:t>
            </a:r>
            <a:endParaRPr dirty="0">
              <a:solidFill>
                <a:schemeClr val="bg1"/>
              </a:solidFill>
            </a:endParaRPr>
          </a:p>
          <a:p>
            <a:endParaRPr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What it actually does:</a:t>
            </a:r>
          </a:p>
          <a:p>
            <a:r>
              <a:rPr dirty="0">
                <a:solidFill>
                  <a:schemeClr val="bg1"/>
                </a:solidFill>
              </a:rPr>
              <a:t>Computer Vision (OpenCV + ONNX)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GB" b="0" dirty="0" err="1">
                <a:solidFill>
                  <a:schemeClr val="bg1"/>
                </a:solidFill>
              </a:rPr>
              <a:t>PyTorch</a:t>
            </a:r>
            <a:r>
              <a:rPr lang="en-GB" b="0" dirty="0">
                <a:solidFill>
                  <a:schemeClr val="bg1"/>
                </a:solidFill>
              </a:rPr>
              <a:t> CNN (MobileNetV3-small) — optional CNN replaces </a:t>
            </a:r>
            <a:r>
              <a:rPr lang="en-GB" b="0" dirty="0" err="1">
                <a:solidFill>
                  <a:schemeClr val="bg1"/>
                </a:solidFill>
              </a:rPr>
              <a:t>RandomForest</a:t>
            </a:r>
            <a:r>
              <a:rPr dirty="0">
                <a:solidFill>
                  <a:schemeClr val="bg1"/>
                </a:solidFill>
              </a:rPr>
              <a:t> — classifies vehicles, detects damage and modifications</a:t>
            </a:r>
          </a:p>
          <a:p>
            <a:r>
              <a:rPr dirty="0">
                <a:solidFill>
                  <a:schemeClr val="bg1"/>
                </a:solidFill>
              </a:rPr>
              <a:t>Confidence Engine — weighted scoring with safety overrides, human-in-the-loop confirmation</a:t>
            </a:r>
          </a:p>
          <a:p>
            <a:r>
              <a:rPr dirty="0">
                <a:solidFill>
                  <a:schemeClr val="bg1"/>
                </a:solidFill>
              </a:rPr>
              <a:t>Adaptive Recommendations</a:t>
            </a:r>
            <a:r>
              <a:rPr lang="en-US" dirty="0">
                <a:solidFill>
                  <a:schemeClr val="bg1"/>
                </a:solidFill>
              </a:rPr>
              <a:t> uses </a:t>
            </a:r>
            <a:r>
              <a:rPr lang="en-GB" b="0" dirty="0" err="1">
                <a:solidFill>
                  <a:schemeClr val="bg1"/>
                </a:solidFill>
              </a:rPr>
              <a:t>Optuna</a:t>
            </a:r>
            <a:r>
              <a:rPr lang="en-GB" b="0" dirty="0">
                <a:solidFill>
                  <a:schemeClr val="bg1"/>
                </a:solidFill>
              </a:rPr>
              <a:t> hyperparameter optimization — to tunes 5 target parameter sets offline which is used for </a:t>
            </a:r>
            <a:r>
              <a:rPr dirty="0">
                <a:solidFill>
                  <a:schemeClr val="bg1"/>
                </a:solidFill>
              </a:rPr>
              <a:t>deviation-aware battery placement and wiring guidance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GB" b="0" dirty="0">
                <a:solidFill>
                  <a:schemeClr val="bg1"/>
                </a:solidFill>
              </a:rPr>
              <a:t>Generative AI refinement — </a:t>
            </a:r>
            <a:r>
              <a:rPr lang="en-GB" b="0" dirty="0" err="1">
                <a:solidFill>
                  <a:schemeClr val="bg1"/>
                </a:solidFill>
              </a:rPr>
              <a:t>OpenAI</a:t>
            </a:r>
            <a:r>
              <a:rPr lang="en-GB" b="0" dirty="0">
                <a:solidFill>
                  <a:schemeClr val="bg1"/>
                </a:solidFill>
              </a:rPr>
              <a:t>/Anthropic improves battery &amp; wiring proposals.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3D Digital Twin — </a:t>
            </a:r>
            <a:r>
              <a:rPr dirty="0" err="1">
                <a:solidFill>
                  <a:schemeClr val="bg1"/>
                </a:solidFill>
              </a:rPr>
              <a:t>Three.js</a:t>
            </a:r>
            <a:r>
              <a:rPr dirty="0">
                <a:solidFill>
                  <a:schemeClr val="bg1"/>
                </a:solidFill>
              </a:rPr>
              <a:t> visualization with anomaly overlays</a:t>
            </a:r>
          </a:p>
          <a:p>
            <a:r>
              <a:rPr dirty="0">
                <a:solidFill>
                  <a:schemeClr val="bg1"/>
                </a:solidFill>
              </a:rPr>
              <a:t>Compliance Report — 13-section report covering all assessment dimensions</a:t>
            </a:r>
          </a:p>
          <a:p>
            <a:r>
              <a:rPr dirty="0">
                <a:solidFill>
                  <a:schemeClr val="bg1"/>
                </a:solidFill>
              </a:rPr>
              <a:t>Knowledge Graph (Neo4j) — Retrofit DNA storage and cross-job similarity</a:t>
            </a:r>
          </a:p>
          <a:p>
            <a:r>
              <a:rPr dirty="0">
                <a:solidFill>
                  <a:schemeClr val="bg1"/>
                </a:solidFill>
              </a:rPr>
              <a:t>Multi-tenant Architecture — workshop isolation, API key auth, rate limiting, data export</a:t>
            </a:r>
          </a:p>
          <a:p>
            <a:r>
              <a:rPr dirty="0">
                <a:solidFill>
                  <a:schemeClr val="bg1"/>
                </a:solidFill>
              </a:rPr>
              <a:t>Production Deployed — Oracle Cloud Free Tier with nginx + Let's Encrypt SSL</a:t>
            </a:r>
            <a:endParaRPr lang="en-US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NG" b="0" dirty="0">
              <a:solidFill>
                <a:schemeClr val="bg1"/>
              </a:solidFill>
            </a:endParaRPr>
          </a:p>
          <a:p>
            <a:r>
              <a:rPr b="0" dirty="0" err="1">
                <a:solidFill>
                  <a:schemeClr val="bg1"/>
                </a:solidFill>
              </a:rPr>
              <a:t>RLlib</a:t>
            </a:r>
            <a:r>
              <a:rPr b="0" dirty="0">
                <a:solidFill>
                  <a:schemeClr val="bg1"/>
                </a:solidFill>
              </a:rPr>
              <a:t> adaptive recommendations — PPO agent learns from human confirmation</a:t>
            </a:r>
          </a:p>
          <a:p>
            <a:r>
              <a:rPr b="0" dirty="0">
                <a:solidFill>
                  <a:schemeClr val="bg1"/>
                </a:solidFill>
              </a:rPr>
              <a:t>Continuous learning — 1h retrain loop with accuracy validation</a:t>
            </a:r>
          </a:p>
        </p:txBody>
      </p:sp>
    </p:spTree>
    <p:extLst>
      <p:ext uri="{BB962C8B-B14F-4D97-AF65-F5344CB8AC3E}">
        <p14:creationId xmlns:p14="http://schemas.microsoft.com/office/powerpoint/2010/main" val="167152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Impact of Proposed Solution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sz="1800" dirty="0">
                <a:solidFill>
                  <a:schemeClr val="bg1"/>
                </a:solidFill>
              </a:rPr>
              <a:t>Environmental Impact: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Accelerates EV adoption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Reduces vehicle waste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Promotes circular economy sustainability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Economic Impact: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Reduces retrofit engineering cost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Enables smaller workshops to participate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Expands affordable EV accessibility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Scalability: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Supports scooters, motorcycles, auto-rickshaws, cars, and fleets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Designed for emerging-market workshop ecosystems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Continuously improves using collective retrofit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Proposed Tech Stack/Architecture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794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Frontend:</a:t>
            </a:r>
          </a:p>
          <a:p>
            <a:r>
              <a:rPr dirty="0" err="1">
                <a:solidFill>
                  <a:schemeClr val="bg1"/>
                </a:solidFill>
              </a:rPr>
              <a:t>Next.js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n-NG" dirty="0">
                <a:solidFill>
                  <a:schemeClr val="bg1"/>
                </a:solidFill>
              </a:rPr>
              <a:t>1</a:t>
            </a:r>
            <a:r>
              <a:rPr dirty="0">
                <a:solidFill>
                  <a:schemeClr val="bg1"/>
                </a:solidFill>
              </a:rPr>
              <a:t>4 + </a:t>
            </a:r>
            <a:r>
              <a:rPr dirty="0" err="1">
                <a:solidFill>
                  <a:schemeClr val="bg1"/>
                </a:solidFill>
              </a:rPr>
              <a:t>TailwindCSS</a:t>
            </a:r>
            <a:r>
              <a:rPr dirty="0">
                <a:solidFill>
                  <a:schemeClr val="bg1"/>
                </a:solidFill>
              </a:rPr>
              <a:t> + </a:t>
            </a:r>
            <a:r>
              <a:rPr dirty="0" err="1">
                <a:solidFill>
                  <a:schemeClr val="bg1"/>
                </a:solidFill>
              </a:rPr>
              <a:t>Three.js</a:t>
            </a:r>
            <a:r>
              <a:rPr dirty="0">
                <a:solidFill>
                  <a:schemeClr val="bg1"/>
                </a:solidFill>
              </a:rPr>
              <a:t> (React Three Fiber)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AI &amp; Backend:</a:t>
            </a:r>
          </a:p>
          <a:p>
            <a:r>
              <a:rPr dirty="0">
                <a:solidFill>
                  <a:schemeClr val="bg1"/>
                </a:solidFill>
              </a:rPr>
              <a:t>Python </a:t>
            </a:r>
            <a:r>
              <a:rPr dirty="0" err="1">
                <a:solidFill>
                  <a:schemeClr val="bg1"/>
                </a:solidFill>
              </a:rPr>
              <a:t>FastAPI</a:t>
            </a:r>
            <a:r>
              <a:rPr dirty="0">
                <a:solidFill>
                  <a:schemeClr val="bg1"/>
                </a:solidFill>
              </a:rPr>
              <a:t> (</a:t>
            </a:r>
            <a:r>
              <a:rPr dirty="0" err="1">
                <a:solidFill>
                  <a:schemeClr val="bg1"/>
                </a:solidFill>
              </a:rPr>
              <a:t>uvicorn</a:t>
            </a:r>
            <a:r>
              <a:rPr dirty="0">
                <a:solidFill>
                  <a:schemeClr val="bg1"/>
                </a:solidFill>
              </a:rPr>
              <a:t>, async, SSE streaming)</a:t>
            </a:r>
          </a:p>
          <a:p>
            <a:r>
              <a:rPr dirty="0">
                <a:solidFill>
                  <a:schemeClr val="bg1"/>
                </a:solidFill>
              </a:rPr>
              <a:t>OpenCV (classification, geometry, deviation detection)</a:t>
            </a:r>
          </a:p>
          <a:p>
            <a:r>
              <a:rPr dirty="0">
                <a:solidFill>
                  <a:schemeClr val="bg1"/>
                </a:solidFill>
              </a:rPr>
              <a:t>ONNX Runtime (model inference)</a:t>
            </a:r>
          </a:p>
          <a:p>
            <a:r>
              <a:rPr dirty="0">
                <a:solidFill>
                  <a:schemeClr val="bg1"/>
                </a:solidFill>
              </a:rPr>
              <a:t>scikit-learn (Random Forest training pipeline → ONNX export)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Workers &amp; Queue:</a:t>
            </a:r>
          </a:p>
          <a:p>
            <a:r>
              <a:rPr dirty="0">
                <a:solidFill>
                  <a:schemeClr val="bg1"/>
                </a:solidFill>
              </a:rPr>
              <a:t>RQ (Redis Queue) + multiprocessing workers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Data Layer:</a:t>
            </a:r>
          </a:p>
          <a:p>
            <a:r>
              <a:rPr dirty="0">
                <a:solidFill>
                  <a:schemeClr val="bg1"/>
                </a:solidFill>
              </a:rPr>
              <a:t>PostgreSQL 16 (primary state: jobs, intakes, assessments, workshops, audit logs)</a:t>
            </a:r>
          </a:p>
          <a:p>
            <a:r>
              <a:rPr dirty="0">
                <a:solidFill>
                  <a:schemeClr val="bg1"/>
                </a:solidFill>
              </a:rPr>
              <a:t>Redis 7 (queue, poll cache, SSE pub/sub)</a:t>
            </a:r>
          </a:p>
          <a:p>
            <a:r>
              <a:rPr dirty="0">
                <a:solidFill>
                  <a:schemeClr val="bg1"/>
                </a:solidFill>
              </a:rPr>
              <a:t>Neo4j Knowledge Graph (Retrofit DNA, similarity, pattern learning)</a:t>
            </a:r>
          </a:p>
          <a:p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Proposed Tech Stack/Architecture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38548" y="1143330"/>
            <a:ext cx="8520600" cy="3794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GB" dirty="0">
                <a:solidFill>
                  <a:schemeClr val="bg1"/>
                </a:solidFill>
              </a:rPr>
              <a:t>Infrastructure:</a:t>
            </a:r>
          </a:p>
          <a:p>
            <a:r>
              <a:rPr lang="en-GB" dirty="0">
                <a:solidFill>
                  <a:schemeClr val="bg1"/>
                </a:solidFill>
              </a:rPr>
              <a:t>Docker Compose (full stack containerized)</a:t>
            </a:r>
          </a:p>
          <a:p>
            <a:r>
              <a:rPr lang="en-GB" dirty="0">
                <a:solidFill>
                  <a:schemeClr val="bg1"/>
                </a:solidFill>
              </a:rPr>
              <a:t>nginx + Let's Encrypt (reverse proxy, SSL termination)</a:t>
            </a:r>
          </a:p>
          <a:p>
            <a:r>
              <a:rPr lang="en-GB" dirty="0">
                <a:solidFill>
                  <a:schemeClr val="bg1"/>
                </a:solidFill>
              </a:rPr>
              <a:t>Oracle Cloud Free Tier VM (4 OCPU, 24 GB RAM)</a:t>
            </a:r>
          </a:p>
          <a:p>
            <a:r>
              <a:rPr lang="en-GB" dirty="0">
                <a:solidFill>
                  <a:schemeClr val="bg1"/>
                </a:solidFill>
              </a:rPr>
              <a:t>GitHub Actions (CI: lint + type + test + build / CD: deploy on push to main)</a:t>
            </a:r>
          </a:p>
          <a:p>
            <a:r>
              <a:rPr lang="en-GB" b="0" dirty="0" err="1">
                <a:solidFill>
                  <a:schemeClr val="bg1"/>
                </a:solidFill>
              </a:rPr>
              <a:t>PyTorch</a:t>
            </a:r>
            <a:r>
              <a:rPr lang="en-GB" b="0" dirty="0">
                <a:solidFill>
                  <a:schemeClr val="bg1"/>
                </a:solidFill>
              </a:rPr>
              <a:t> (MobileNetV3-small CNN, optional)</a:t>
            </a:r>
          </a:p>
          <a:p>
            <a:r>
              <a:rPr lang="en-GB" b="0" dirty="0" err="1">
                <a:solidFill>
                  <a:schemeClr val="bg1"/>
                </a:solidFill>
              </a:rPr>
              <a:t>RLlib</a:t>
            </a:r>
            <a:r>
              <a:rPr lang="en-GB" b="0" dirty="0">
                <a:solidFill>
                  <a:schemeClr val="bg1"/>
                </a:solidFill>
              </a:rPr>
              <a:t> (PPO recommendation agent, optional)</a:t>
            </a:r>
          </a:p>
          <a:p>
            <a:r>
              <a:rPr lang="en-GB" b="0" dirty="0" err="1">
                <a:solidFill>
                  <a:schemeClr val="bg1"/>
                </a:solidFill>
              </a:rPr>
              <a:t>Optuna</a:t>
            </a:r>
            <a:r>
              <a:rPr lang="en-GB" b="0" dirty="0">
                <a:solidFill>
                  <a:schemeClr val="bg1"/>
                </a:solidFill>
              </a:rPr>
              <a:t> (hyperparameter optimization, optional)</a:t>
            </a:r>
          </a:p>
          <a:p>
            <a:r>
              <a:rPr lang="en-GB" b="0" dirty="0" err="1">
                <a:solidFill>
                  <a:schemeClr val="bg1"/>
                </a:solidFill>
              </a:rPr>
              <a:t>OpenAI</a:t>
            </a:r>
            <a:r>
              <a:rPr lang="en-GB" b="0" dirty="0">
                <a:solidFill>
                  <a:schemeClr val="bg1"/>
                </a:solidFill>
              </a:rPr>
              <a:t> / Anthropic (generative refinement, optional)</a:t>
            </a:r>
          </a:p>
          <a:p>
            <a:r>
              <a:rPr lang="en-GB" b="0" dirty="0" err="1">
                <a:solidFill>
                  <a:schemeClr val="bg1"/>
                </a:solidFill>
              </a:rPr>
              <a:t>FreeCAD</a:t>
            </a:r>
            <a:r>
              <a:rPr lang="en-GB" b="0" dirty="0">
                <a:solidFill>
                  <a:schemeClr val="bg1"/>
                </a:solidFill>
              </a:rPr>
              <a:t> (STEP/STL CAD export, separate container)</a:t>
            </a:r>
          </a:p>
          <a:p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20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254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Architecture Diagrams, Screenshots/Video Demo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280160"/>
            <a:ext cx="8520600" cy="3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FULL ARCHITECTURE DIAGRAMS: </a:t>
            </a:r>
            <a:r>
              <a:rPr lang="en-GB" dirty="0">
                <a:solidFill>
                  <a:schemeClr val="bg1"/>
                </a:solidFill>
              </a:rPr>
              <a:t>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/blob/main/docs/load-</a:t>
            </a:r>
            <a:r>
              <a:rPr lang="en-GB" dirty="0" err="1">
                <a:solidFill>
                  <a:schemeClr val="bg1"/>
                </a:solidFill>
              </a:rPr>
              <a:t>testing.md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(10 Mermaid diagrams)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Includes:</a:t>
            </a:r>
          </a:p>
          <a:p>
            <a:r>
              <a:rPr dirty="0">
                <a:solidFill>
                  <a:schemeClr val="bg1"/>
                </a:solidFill>
              </a:rPr>
              <a:t>Deployment Topology — Oracle VM with Docker Compose services</a:t>
            </a:r>
          </a:p>
          <a:p>
            <a:r>
              <a:rPr dirty="0">
                <a:solidFill>
                  <a:schemeClr val="bg1"/>
                </a:solidFill>
              </a:rPr>
              <a:t>Component Architecture — Frontend, Backend Worker, Data Stores</a:t>
            </a:r>
          </a:p>
          <a:p>
            <a:r>
              <a:rPr dirty="0">
                <a:solidFill>
                  <a:schemeClr val="bg1"/>
                </a:solidFill>
              </a:rPr>
              <a:t>Full Assessment Sequence — auth → intake → upload → analyze → confirm → report</a:t>
            </a:r>
          </a:p>
          <a:p>
            <a:r>
              <a:rPr dirty="0">
                <a:solidFill>
                  <a:schemeClr val="bg1"/>
                </a:solidFill>
              </a:rPr>
              <a:t>Job State Machine — queued → running → completed / partial / failed / </a:t>
            </a:r>
            <a:r>
              <a:rPr dirty="0" err="1">
                <a:solidFill>
                  <a:schemeClr val="bg1"/>
                </a:solidFill>
              </a:rPr>
              <a:t>timed_out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Assessment Stages Timeline — 11 stages, ~66s target</a:t>
            </a:r>
          </a:p>
          <a:p>
            <a:r>
              <a:rPr dirty="0">
                <a:solidFill>
                  <a:schemeClr val="bg1"/>
                </a:solidFill>
              </a:rPr>
              <a:t>Confidence Engine Flow — 6 factors → weights → safety overrides → human confirmation</a:t>
            </a:r>
          </a:p>
          <a:p>
            <a:r>
              <a:rPr dirty="0">
                <a:solidFill>
                  <a:schemeClr val="bg1"/>
                </a:solidFill>
              </a:rPr>
              <a:t>Database Schema (ER) — Workshop → Intake → Job → </a:t>
            </a:r>
            <a:r>
              <a:rPr dirty="0" err="1">
                <a:solidFill>
                  <a:schemeClr val="bg1"/>
                </a:solidFill>
              </a:rPr>
              <a:t>AuditLog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Degradation Tiers — Tier 0-3 with trigger and mitigation conditions</a:t>
            </a:r>
          </a:p>
          <a:p>
            <a:r>
              <a:rPr dirty="0">
                <a:solidFill>
                  <a:schemeClr val="bg1"/>
                </a:solidFill>
              </a:rPr>
              <a:t>API Route Map — public / workshop / admin / v2 endpoints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35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Architecture Diagrams, Screenshots/Video Demo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280160"/>
            <a:ext cx="8520600" cy="36027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LIVE DEMO:</a:t>
            </a:r>
          </a:p>
          <a:p>
            <a:r>
              <a:rPr dirty="0">
                <a:solidFill>
                  <a:schemeClr val="bg1"/>
                </a:solidFill>
              </a:rPr>
              <a:t>• http://localhost:3000 (Frontend)</a:t>
            </a:r>
          </a:p>
          <a:p>
            <a:r>
              <a:rPr dirty="0">
                <a:solidFill>
                  <a:schemeClr val="bg1"/>
                </a:solidFill>
              </a:rPr>
              <a:t>• http://localhost:8000/docs (Swagger API)</a:t>
            </a:r>
          </a:p>
          <a:p>
            <a:r>
              <a:rPr dirty="0">
                <a:solidFill>
                  <a:schemeClr val="bg1"/>
                </a:solidFill>
              </a:rPr>
              <a:t>• http://localhost:8000/</a:t>
            </a:r>
            <a:r>
              <a:rPr dirty="0" err="1">
                <a:solidFill>
                  <a:schemeClr val="bg1"/>
                </a:solidFill>
              </a:rPr>
              <a:t>api</a:t>
            </a:r>
            <a:r>
              <a:rPr dirty="0">
                <a:solidFill>
                  <a:schemeClr val="bg1"/>
                </a:solidFill>
              </a:rPr>
              <a:t>/v1/health (Health check)</a:t>
            </a:r>
          </a:p>
          <a:p>
            <a:pPr marL="11430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22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35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Architecture Diagrams, Screenshots/Video Demo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280160"/>
            <a:ext cx="8520600" cy="3785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SCREENSHOTS OF CORE UI (see /docs/screenshots/ or demo video):</a:t>
            </a:r>
          </a:p>
          <a:p>
            <a:r>
              <a:rPr dirty="0">
                <a:solidFill>
                  <a:schemeClr val="bg1"/>
                </a:solidFill>
              </a:rPr>
              <a:t>Assessment workspace — 6 upload slots with guided vehicle photo capture</a:t>
            </a:r>
          </a:p>
          <a:p>
            <a:r>
              <a:rPr dirty="0">
                <a:solidFill>
                  <a:schemeClr val="bg1"/>
                </a:solidFill>
              </a:rPr>
              <a:t>Result view — confidence score, feasibility, deviation summary, recommendations</a:t>
            </a:r>
          </a:p>
          <a:p>
            <a:r>
              <a:rPr dirty="0">
                <a:solidFill>
                  <a:schemeClr val="bg1"/>
                </a:solidFill>
              </a:rPr>
              <a:t>3D Digital Twin — anomaly overlays on vehicle wireframe</a:t>
            </a:r>
          </a:p>
          <a:p>
            <a:r>
              <a:rPr dirty="0">
                <a:solidFill>
                  <a:schemeClr val="bg1"/>
                </a:solidFill>
              </a:rPr>
              <a:t>Compliance Report — 13-section printable report</a:t>
            </a:r>
          </a:p>
          <a:p>
            <a:r>
              <a:rPr dirty="0">
                <a:solidFill>
                  <a:schemeClr val="bg1"/>
                </a:solidFill>
              </a:rPr>
              <a:t>Admin Dashboard — workshop metrics, audit logs, per-workshop stats</a:t>
            </a:r>
          </a:p>
          <a:p>
            <a:r>
              <a:rPr dirty="0">
                <a:solidFill>
                  <a:schemeClr val="bg1"/>
                </a:solidFill>
              </a:rPr>
              <a:t>Analytics Dashboard — monthly trends, deviation breakdown, summary cards</a:t>
            </a:r>
          </a:p>
          <a:p>
            <a:r>
              <a:rPr dirty="0">
                <a:solidFill>
                  <a:schemeClr val="bg1"/>
                </a:solidFill>
              </a:rPr>
              <a:t>Knowledge Graph — Neo4j Retrofit DNA browser</a:t>
            </a:r>
          </a:p>
          <a:p>
            <a:r>
              <a:rPr dirty="0">
                <a:solidFill>
                  <a:schemeClr val="bg1"/>
                </a:solidFill>
              </a:rPr>
              <a:t>Settings page — workshop profile, API key renewal, data export</a:t>
            </a:r>
          </a:p>
        </p:txBody>
      </p:sp>
    </p:spTree>
    <p:extLst>
      <p:ext uri="{BB962C8B-B14F-4D97-AF65-F5344CB8AC3E}">
        <p14:creationId xmlns:p14="http://schemas.microsoft.com/office/powerpoint/2010/main" val="169819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247692" y="198137"/>
            <a:ext cx="8520600" cy="643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Why Your Solution Must Be Considered</a:t>
            </a: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088136"/>
            <a:ext cx="8520600" cy="3922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RetroMind AI solves the real-world challenge most retrofit systems ignor</a:t>
            </a:r>
            <a:r>
              <a:rPr lang="en-US" dirty="0">
                <a:solidFill>
                  <a:schemeClr val="bg1"/>
                </a:solidFill>
              </a:rPr>
              <a:t>es </a:t>
            </a:r>
            <a:r>
              <a:rPr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imperfect and modified vehicles in emerging-market workshops.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What ships today:</a:t>
            </a:r>
          </a:p>
          <a:p>
            <a:r>
              <a:rPr dirty="0">
                <a:solidFill>
                  <a:schemeClr val="bg1"/>
                </a:solidFill>
              </a:rPr>
              <a:t>• Production-grade </a:t>
            </a:r>
            <a:r>
              <a:rPr dirty="0" err="1">
                <a:solidFill>
                  <a:schemeClr val="bg1"/>
                </a:solidFill>
              </a:rPr>
              <a:t>FastAPI</a:t>
            </a:r>
            <a:r>
              <a:rPr dirty="0">
                <a:solidFill>
                  <a:schemeClr val="bg1"/>
                </a:solidFill>
              </a:rPr>
              <a:t> backend with 237+ passing tests</a:t>
            </a:r>
          </a:p>
          <a:p>
            <a:r>
              <a:rPr dirty="0">
                <a:solidFill>
                  <a:schemeClr val="bg1"/>
                </a:solidFill>
              </a:rPr>
              <a:t>• Confidence-aware assessment with 6 weighted factors + safety overrides</a:t>
            </a:r>
          </a:p>
          <a:p>
            <a:r>
              <a:rPr dirty="0">
                <a:solidFill>
                  <a:schemeClr val="bg1"/>
                </a:solidFill>
              </a:rPr>
              <a:t>• Deviation detection for real-world vehicle anomalies (dents, modifications, rust)</a:t>
            </a:r>
          </a:p>
          <a:p>
            <a:r>
              <a:rPr dirty="0">
                <a:solidFill>
                  <a:schemeClr val="bg1"/>
                </a:solidFill>
              </a:rPr>
              <a:t>• Human-in-the-loop confirmation for uncertain classifications (&lt; 85% confidence)</a:t>
            </a:r>
          </a:p>
          <a:p>
            <a:r>
              <a:rPr dirty="0">
                <a:solidFill>
                  <a:schemeClr val="bg1"/>
                </a:solidFill>
              </a:rPr>
              <a:t>• Adaptive battery placement and wiring layout recommendations</a:t>
            </a:r>
          </a:p>
          <a:p>
            <a:r>
              <a:rPr dirty="0">
                <a:solidFill>
                  <a:schemeClr val="bg1"/>
                </a:solidFill>
              </a:rPr>
              <a:t>• 3D digital twin with anomaly overlays (</a:t>
            </a:r>
            <a:r>
              <a:rPr dirty="0" err="1">
                <a:solidFill>
                  <a:schemeClr val="bg1"/>
                </a:solidFill>
              </a:rPr>
              <a:t>Three.js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r>
              <a:rPr dirty="0">
                <a:solidFill>
                  <a:schemeClr val="bg1"/>
                </a:solidFill>
              </a:rPr>
              <a:t>• 13-section compliance report with JSON export</a:t>
            </a:r>
          </a:p>
          <a:p>
            <a:r>
              <a:rPr dirty="0">
                <a:solidFill>
                  <a:schemeClr val="bg1"/>
                </a:solidFill>
              </a:rPr>
              <a:t>• Neo4j knowledge graph storing Retrofit DNA across jobs</a:t>
            </a:r>
          </a:p>
          <a:p>
            <a:r>
              <a:rPr dirty="0">
                <a:solidFill>
                  <a:schemeClr val="bg1"/>
                </a:solidFill>
              </a:rPr>
              <a:t>• Multi-tenant workshop isolation with API key authentication</a:t>
            </a:r>
          </a:p>
          <a:p>
            <a:r>
              <a:rPr dirty="0">
                <a:solidFill>
                  <a:schemeClr val="bg1"/>
                </a:solidFill>
              </a:rPr>
              <a:t>• Admin dashboard with audit logs, workshop stats, system metrics</a:t>
            </a:r>
          </a:p>
          <a:p>
            <a:r>
              <a:rPr dirty="0">
                <a:solidFill>
                  <a:schemeClr val="bg1"/>
                </a:solidFill>
              </a:rPr>
              <a:t>• SSE streaming for real-time job progress</a:t>
            </a:r>
          </a:p>
          <a:p>
            <a:r>
              <a:rPr dirty="0">
                <a:solidFill>
                  <a:schemeClr val="bg1"/>
                </a:solidFill>
              </a:rPr>
              <a:t>• ML training pipeline to train ONNX models from collected workshop data</a:t>
            </a:r>
          </a:p>
          <a:p>
            <a:r>
              <a:rPr dirty="0">
                <a:solidFill>
                  <a:schemeClr val="bg1"/>
                </a:solidFill>
              </a:rPr>
              <a:t>• Full CI/CD pipeline deployed to Oracle Cloud Free Tier</a:t>
            </a:r>
          </a:p>
          <a:p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43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Why Your Solution Must Be Considered</a:t>
            </a: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088136"/>
            <a:ext cx="8520600" cy="38130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GB" dirty="0">
                <a:solidFill>
                  <a:schemeClr val="bg1"/>
                </a:solidFill>
              </a:rPr>
              <a:t>What makes it different:</a:t>
            </a:r>
          </a:p>
          <a:p>
            <a:r>
              <a:rPr lang="en-GB" dirty="0">
                <a:solidFill>
                  <a:schemeClr val="bg1"/>
                </a:solidFill>
              </a:rPr>
              <a:t>Graceful degradation — never hard-fails on imperfect inputs (partial visibility, etc.)</a:t>
            </a:r>
          </a:p>
          <a:p>
            <a:r>
              <a:rPr lang="en-GB" dirty="0">
                <a:solidFill>
                  <a:schemeClr val="bg1"/>
                </a:solidFill>
              </a:rPr>
              <a:t>Progressive insight — results revealed stage-by-stage, not one opaque response</a:t>
            </a:r>
          </a:p>
          <a:p>
            <a:r>
              <a:rPr lang="en-GB" dirty="0">
                <a:solidFill>
                  <a:schemeClr val="bg1"/>
                </a:solidFill>
              </a:rPr>
              <a:t>Confidence-first UX — every output shows its trust level with reason codes</a:t>
            </a:r>
          </a:p>
          <a:p>
            <a:r>
              <a:rPr lang="en-GB" dirty="0">
                <a:solidFill>
                  <a:schemeClr val="bg1"/>
                </a:solidFill>
              </a:rPr>
              <a:t>• Workshop-first design — analytics never blocks the core workflow</a:t>
            </a:r>
          </a:p>
          <a:p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1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Any Additional Information</a:t>
            </a: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1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dirty="0">
                <a:solidFill>
                  <a:schemeClr val="bg1"/>
                </a:solidFill>
              </a:rPr>
              <a:t>Built and testable in the current codebase:</a:t>
            </a:r>
          </a:p>
          <a:p>
            <a:r>
              <a:rPr dirty="0">
                <a:solidFill>
                  <a:schemeClr val="bg1"/>
                </a:solidFill>
              </a:rPr>
              <a:t>API v2 prep — /</a:t>
            </a:r>
            <a:r>
              <a:rPr dirty="0" err="1">
                <a:solidFill>
                  <a:schemeClr val="bg1"/>
                </a:solidFill>
              </a:rPr>
              <a:t>api</a:t>
            </a:r>
            <a:r>
              <a:rPr dirty="0">
                <a:solidFill>
                  <a:schemeClr val="bg1"/>
                </a:solidFill>
              </a:rPr>
              <a:t>/v2/ endpoint with telemetry block, Accept-Version header negotiation</a:t>
            </a:r>
          </a:p>
          <a:p>
            <a:r>
              <a:rPr dirty="0">
                <a:solidFill>
                  <a:schemeClr val="bg1"/>
                </a:solidFill>
              </a:rPr>
              <a:t>Workshop analytics — monthly stats with SVG charts, deviation breakdown, 1h Redis cache</a:t>
            </a:r>
          </a:p>
          <a:p>
            <a:r>
              <a:rPr dirty="0">
                <a:solidFill>
                  <a:schemeClr val="bg1"/>
                </a:solidFill>
              </a:rPr>
              <a:t>Workshop self-service — registration, key renewal, profile, settings page</a:t>
            </a:r>
          </a:p>
          <a:p>
            <a:r>
              <a:rPr dirty="0">
                <a:solidFill>
                  <a:schemeClr val="bg1"/>
                </a:solidFill>
              </a:rPr>
              <a:t>Data export — full workshop data as downloadable JSON</a:t>
            </a:r>
          </a:p>
          <a:p>
            <a:r>
              <a:rPr dirty="0">
                <a:solidFill>
                  <a:schemeClr val="bg1"/>
                </a:solidFill>
              </a:rPr>
              <a:t>Rate limiting — per-workshop daily intake quota (configurable, returns 429)</a:t>
            </a:r>
          </a:p>
          <a:p>
            <a:r>
              <a:rPr dirty="0">
                <a:solidFill>
                  <a:schemeClr val="bg1"/>
                </a:solidFill>
              </a:rPr>
              <a:t>Prometheus metrics endpoint</a:t>
            </a:r>
          </a:p>
          <a:p>
            <a:r>
              <a:rPr dirty="0">
                <a:solidFill>
                  <a:schemeClr val="bg1"/>
                </a:solidFill>
              </a:rPr>
              <a:t>Load testing suite — Locust with 4 scenarios (health, poll, upload, analyze)</a:t>
            </a:r>
          </a:p>
          <a:p>
            <a:r>
              <a:rPr dirty="0">
                <a:solidFill>
                  <a:schemeClr val="bg1"/>
                </a:solidFill>
              </a:rPr>
              <a:t>E2E integration tests with real images (</a:t>
            </a:r>
            <a:r>
              <a:rPr dirty="0" err="1">
                <a:solidFill>
                  <a:schemeClr val="bg1"/>
                </a:solidFill>
              </a:rPr>
              <a:t>pytest</a:t>
            </a:r>
            <a:r>
              <a:rPr dirty="0">
                <a:solidFill>
                  <a:schemeClr val="bg1"/>
                </a:solidFill>
              </a:rPr>
              <a:t> --</a:t>
            </a:r>
            <a:r>
              <a:rPr dirty="0" err="1">
                <a:solidFill>
                  <a:schemeClr val="bg1"/>
                </a:solidFill>
              </a:rPr>
              <a:t>runslow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r>
              <a:rPr dirty="0">
                <a:solidFill>
                  <a:schemeClr val="bg1"/>
                </a:solidFill>
              </a:rPr>
              <a:t>Graceful degradation tests — missing Neo4j, model file, backend-only mode</a:t>
            </a:r>
          </a:p>
          <a:p>
            <a:pPr marL="11430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b="0" dirty="0">
                <a:solidFill>
                  <a:schemeClr val="bg1"/>
                </a:solidFill>
              </a:rPr>
              <a:t>• </a:t>
            </a:r>
            <a:r>
              <a:rPr b="0" dirty="0" err="1">
                <a:solidFill>
                  <a:schemeClr val="bg1"/>
                </a:solidFill>
              </a:rPr>
              <a:t>PyTorch</a:t>
            </a:r>
            <a:r>
              <a:rPr b="0" dirty="0">
                <a:solidFill>
                  <a:schemeClr val="bg1"/>
                </a:solidFill>
              </a:rPr>
              <a:t> CNN with 3-tier fallback (</a:t>
            </a:r>
            <a:r>
              <a:rPr b="0" dirty="0" err="1">
                <a:solidFill>
                  <a:schemeClr val="bg1"/>
                </a:solidFill>
              </a:rPr>
              <a:t>PyTorch</a:t>
            </a:r>
            <a:r>
              <a:rPr b="0" dirty="0">
                <a:solidFill>
                  <a:schemeClr val="bg1"/>
                </a:solidFill>
              </a:rPr>
              <a:t> → ONNX → heuristic)</a:t>
            </a:r>
          </a:p>
          <a:p>
            <a:r>
              <a:rPr b="0" dirty="0">
                <a:solidFill>
                  <a:schemeClr val="bg1"/>
                </a:solidFill>
              </a:rPr>
              <a:t>• </a:t>
            </a:r>
            <a:r>
              <a:rPr b="0" dirty="0" err="1">
                <a:solidFill>
                  <a:schemeClr val="bg1"/>
                </a:solidFill>
              </a:rPr>
              <a:t>RLlib</a:t>
            </a:r>
            <a:r>
              <a:rPr b="0" dirty="0">
                <a:solidFill>
                  <a:schemeClr val="bg1"/>
                </a:solidFill>
              </a:rPr>
              <a:t> agent with 2-tier fallback (RL → template engine)</a:t>
            </a:r>
          </a:p>
          <a:p>
            <a:r>
              <a:rPr b="0" dirty="0">
                <a:solidFill>
                  <a:schemeClr val="bg1"/>
                </a:solidFill>
              </a:rPr>
              <a:t>• Generative refiner with pass-through (LLM → original zones/routes)</a:t>
            </a:r>
          </a:p>
          <a:p>
            <a:r>
              <a:rPr b="0" dirty="0">
                <a:solidFill>
                  <a:schemeClr val="bg1"/>
                </a:solidFill>
              </a:rPr>
              <a:t>• </a:t>
            </a:r>
            <a:r>
              <a:rPr b="0" dirty="0" err="1">
                <a:solidFill>
                  <a:schemeClr val="bg1"/>
                </a:solidFill>
              </a:rPr>
              <a:t>FreeCAD</a:t>
            </a:r>
            <a:r>
              <a:rPr b="0" dirty="0">
                <a:solidFill>
                  <a:schemeClr val="bg1"/>
                </a:solidFill>
              </a:rPr>
              <a:t> with 503 (separate container, never crash main API)</a:t>
            </a:r>
          </a:p>
          <a:p>
            <a:r>
              <a:rPr b="0" dirty="0">
                <a:solidFill>
                  <a:schemeClr val="bg1"/>
                </a:solidFill>
              </a:rPr>
              <a:t>• All optional capabilities isolated via feature flags + pip extras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Any Additional Information</a:t>
            </a: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776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en-GB" dirty="0">
                <a:solidFill>
                  <a:schemeClr val="bg1"/>
                </a:solidFill>
              </a:rPr>
              <a:t>Documentation links (replace with your repo URL):</a:t>
            </a:r>
          </a:p>
          <a:p>
            <a:r>
              <a:rPr lang="en-GB" dirty="0">
                <a:solidFill>
                  <a:schemeClr val="bg1"/>
                </a:solidFill>
              </a:rPr>
              <a:t>Full README: 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</a:t>
            </a:r>
            <a:r>
              <a:rPr lang="en-GB" dirty="0" err="1">
                <a:solidFill>
                  <a:schemeClr val="bg1"/>
                </a:solidFill>
              </a:rPr>
              <a:t>README.md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Architecture diagrams: 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/blob/main/docs/diagrams/</a:t>
            </a:r>
            <a:r>
              <a:rPr lang="en-GB" dirty="0" err="1">
                <a:solidFill>
                  <a:schemeClr val="bg1"/>
                </a:solidFill>
              </a:rPr>
              <a:t>architecture.md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User guide: 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/blob/main/docs/user-</a:t>
            </a:r>
            <a:r>
              <a:rPr lang="en-GB" dirty="0" err="1">
                <a:solidFill>
                  <a:schemeClr val="bg1"/>
                </a:solidFill>
              </a:rPr>
              <a:t>guide.md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API v2 migration guide: 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/blob/main/docs/api-v2.md</a:t>
            </a:r>
          </a:p>
          <a:p>
            <a:r>
              <a:rPr lang="en-GB" dirty="0">
                <a:solidFill>
                  <a:schemeClr val="bg1"/>
                </a:solidFill>
              </a:rPr>
              <a:t>Load testing report: 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ekemainaiML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RetroMindAI</a:t>
            </a:r>
            <a:r>
              <a:rPr lang="en-GB" dirty="0">
                <a:solidFill>
                  <a:schemeClr val="bg1"/>
                </a:solidFill>
              </a:rPr>
              <a:t>/blob/main/docs/load-</a:t>
            </a:r>
            <a:r>
              <a:rPr lang="en-GB" dirty="0" err="1">
                <a:solidFill>
                  <a:schemeClr val="bg1"/>
                </a:solidFill>
              </a:rPr>
              <a:t>testing.md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GB" dirty="0">
                <a:solidFill>
                  <a:schemeClr val="bg1"/>
                </a:solidFill>
              </a:rPr>
              <a:t>Vision:</a:t>
            </a:r>
          </a:p>
          <a:p>
            <a:r>
              <a:rPr lang="en-GB" dirty="0">
                <a:solidFill>
                  <a:schemeClr val="bg1"/>
                </a:solidFill>
              </a:rPr>
              <a:t>To become the foundational intelligence infrastructure powering next-generation EV retrofit ecosystems globally.</a:t>
            </a:r>
          </a:p>
          <a:p>
            <a:pPr marL="11430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b="0" dirty="0">
                <a:solidFill>
                  <a:schemeClr val="bg1"/>
                </a:solidFill>
              </a:rPr>
              <a:t>AI enhancement plan: https://</a:t>
            </a:r>
            <a:r>
              <a:rPr b="0" dirty="0" err="1">
                <a:solidFill>
                  <a:schemeClr val="bg1"/>
                </a:solidFill>
              </a:rPr>
              <a:t>github.com</a:t>
            </a:r>
            <a:r>
              <a:rPr b="0" dirty="0">
                <a:solidFill>
                  <a:schemeClr val="bg1"/>
                </a:solidFill>
              </a:rPr>
              <a:t>/</a:t>
            </a:r>
            <a:r>
              <a:rPr b="0" dirty="0" err="1">
                <a:solidFill>
                  <a:schemeClr val="bg1"/>
                </a:solidFill>
              </a:rPr>
              <a:t>ekemainaiML</a:t>
            </a:r>
            <a:r>
              <a:rPr b="0" dirty="0">
                <a:solidFill>
                  <a:schemeClr val="bg1"/>
                </a:solidFill>
              </a:rPr>
              <a:t>/</a:t>
            </a:r>
            <a:r>
              <a:rPr b="0" dirty="0" err="1">
                <a:solidFill>
                  <a:schemeClr val="bg1"/>
                </a:solidFill>
              </a:rPr>
              <a:t>RetroMindAI</a:t>
            </a:r>
            <a:r>
              <a:rPr b="0" dirty="0">
                <a:solidFill>
                  <a:schemeClr val="bg1"/>
                </a:solidFill>
              </a:rPr>
              <a:t>/blob/main/docs/ai-enhancement-</a:t>
            </a:r>
            <a:r>
              <a:rPr b="0" dirty="0" err="1">
                <a:solidFill>
                  <a:schemeClr val="bg1"/>
                </a:solidFill>
              </a:rPr>
              <a:t>plan.md</a:t>
            </a:r>
            <a:endParaRPr b="0" dirty="0">
              <a:solidFill>
                <a:schemeClr val="bg1"/>
              </a:solidFill>
            </a:endParaRPr>
          </a:p>
          <a:p>
            <a:r>
              <a:rPr b="0" dirty="0">
                <a:solidFill>
                  <a:schemeClr val="bg1"/>
                </a:solidFill>
              </a:rPr>
              <a:t>Implementation roadmap: https://</a:t>
            </a:r>
            <a:r>
              <a:rPr b="0" dirty="0" err="1">
                <a:solidFill>
                  <a:schemeClr val="bg1"/>
                </a:solidFill>
              </a:rPr>
              <a:t>github.com</a:t>
            </a:r>
            <a:r>
              <a:rPr b="0" dirty="0">
                <a:solidFill>
                  <a:schemeClr val="bg1"/>
                </a:solidFill>
              </a:rPr>
              <a:t>/</a:t>
            </a:r>
            <a:r>
              <a:rPr b="0" dirty="0" err="1">
                <a:solidFill>
                  <a:schemeClr val="bg1"/>
                </a:solidFill>
              </a:rPr>
              <a:t>ekemainaiML</a:t>
            </a:r>
            <a:r>
              <a:rPr b="0" dirty="0">
                <a:solidFill>
                  <a:schemeClr val="bg1"/>
                </a:solidFill>
              </a:rPr>
              <a:t>/</a:t>
            </a:r>
            <a:r>
              <a:rPr b="0" dirty="0" err="1">
                <a:solidFill>
                  <a:schemeClr val="bg1"/>
                </a:solidFill>
              </a:rPr>
              <a:t>RetroMindAI</a:t>
            </a:r>
            <a:r>
              <a:rPr b="0" dirty="0">
                <a:solidFill>
                  <a:schemeClr val="bg1"/>
                </a:solidFill>
              </a:rPr>
              <a:t>/blob/main/docs/implementation-</a:t>
            </a:r>
            <a:r>
              <a:rPr b="0" dirty="0" err="1">
                <a:solidFill>
                  <a:schemeClr val="bg1"/>
                </a:solidFill>
              </a:rPr>
              <a:t>roadmap.md</a:t>
            </a:r>
            <a:endParaRPr b="0" dirty="0">
              <a:solidFill>
                <a:schemeClr val="bg1"/>
              </a:solidFill>
            </a:endParaRPr>
          </a:p>
          <a:p>
            <a:endParaRPr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905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5717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700" y="689023"/>
            <a:ext cx="8520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chemeClr val="bg1"/>
                </a:solidFill>
              </a:rPr>
              <a:t>RetroMind AI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A Self-Learning EV Retrofit Intelligence Network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</a:t>
            </a:r>
            <a:r>
              <a:rPr sz="1800" dirty="0" err="1">
                <a:solidFill>
                  <a:schemeClr val="bg1"/>
                </a:solidFill>
              </a:rPr>
              <a:t>Ekemainai</a:t>
            </a:r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ET AutoTech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3142</TotalTime>
  <Words>1421</Words>
  <Application>Microsoft Macintosh PowerPoint</Application>
  <PresentationFormat>On-screen Show (16:9)</PresentationFormat>
  <Paragraphs>153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ET AutoTech Hackathon 2026</vt:lpstr>
      <vt:lpstr>Theme Chosen - Brief Summary &amp; Proposed Solution/Idea</vt:lpstr>
      <vt:lpstr>Impact of Proposed Solution</vt:lpstr>
      <vt:lpstr>Proposed Tech Stack/Architecture</vt:lpstr>
      <vt:lpstr>Proposed Tech Stack/Architecture</vt:lpstr>
      <vt:lpstr>Architecture Diagrams, Screenshots/Video Demo</vt:lpstr>
      <vt:lpstr>Architecture Diagrams, Screenshots/Video Demo</vt:lpstr>
      <vt:lpstr>Architecture Diagrams, Screenshots/Video Demo</vt:lpstr>
      <vt:lpstr>Why Your Solution Must Be Considered</vt:lpstr>
      <vt:lpstr>Why Your Solution Must Be Considered</vt:lpstr>
      <vt:lpstr>Any Additional Information</vt:lpstr>
      <vt:lpstr>Any Additional Information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AutoTech Hackathon 2026</dc:title>
  <cp:lastModifiedBy>Ekemini Stephen</cp:lastModifiedBy>
  <cp:revision>14</cp:revision>
  <dcterms:modified xsi:type="dcterms:W3CDTF">2026-05-30T18:44:19Z</dcterms:modified>
</cp:coreProperties>
</file>