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 snapToObjects="1">
      <p:cViewPr>
        <p:scale>
          <a:sx n="100" d="100"/>
          <a:sy n="100" d="100"/>
        </p:scale>
        <p:origin x="100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RetroMindAI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EEEE"/>
                </a:solidFill>
                <a:latin typeface="Calibri"/>
              </a:defRPr>
            </a:pPr>
            <a:r>
              <a:t>AI-Powered EV Retrofit Assessment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97706"/>
                </a:solidFill>
                <a:latin typeface="Calibri"/>
              </a:defRPr>
            </a:pPr>
            <a:r>
              <a:rPr dirty="0">
                <a:solidFill>
                  <a:srgbClr val="C00000"/>
                </a:solidFill>
              </a:rPr>
              <a:t>Final Presentation  |  Panel 2  |  16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Virtual — meet.google.com/xjc-jogb-trd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DD"/>
                </a:solidFill>
                <a:latin typeface="Calibri"/>
              </a:defRPr>
            </a:pPr>
            <a:r>
              <a:t>Impact on Automotive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1.4B+ ICE vehicles globally — each a candidate for EV retrofit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Retrofitting is complex: structural, electrical, safety, compliance checks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Workshops lack standardised tools — assessments are manual, slow, and inconsistent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No centralised knowledge base to learn from past retrofits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The Opportunity: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AI-driven assessment reduces evaluation time from hours →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Standardises quality across thousands of workshops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Accelerates the global transition to sustainable transportation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RetroMindAI?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DD"/>
                </a:solidFill>
                <a:latin typeface="Calibri"/>
              </a:defRPr>
            </a:pPr>
            <a:r>
              <a:t>Clarity of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A full-stack SaaS platform that assesses ICE vehicles for EV retrofit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Input: 6 standardised photos (left, right, front, rear, engine bay, underbody)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Output: Compliance report with cost estimation, battery placement, wiring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Core Capabilities: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Multi-strategy AI classification (ONNX / PyTorch / Heuristic)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OEM identification via CLIP embeddings + knowledge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Deviation detection against manufacturer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3D Digital Twin with battery fitment, thermal zones, and wiring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Automated compliance scoring and recommendation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DD"/>
                </a:solidFill>
                <a:latin typeface="Calibri"/>
              </a:defRPr>
            </a:pPr>
            <a:r>
              <a:t>Technical Depth &amp; Engineering Rigor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004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Calibri"/>
              </a:defRPr>
            </a:pPr>
            <a:r>
              <a:rPr dirty="0"/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02B"/>
                </a:solidFill>
                <a:latin typeface="Calibri"/>
              </a:defRPr>
            </a:pPr>
            <a:r>
              <a:rPr dirty="0"/>
              <a:t>Next.js 16 + React 19</a:t>
            </a:r>
            <a:br>
              <a:rPr dirty="0"/>
            </a:br>
            <a:r>
              <a:rPr dirty="0"/>
              <a:t>TypeScript / Tailwind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48740"/>
            <a:ext cx="32004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Calibri"/>
              </a:defRPr>
            </a:pPr>
            <a:r>
              <a:rPr dirty="0"/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3976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02B"/>
                </a:solidFill>
                <a:latin typeface="Calibri"/>
              </a:defRPr>
            </a:pPr>
            <a:r>
              <a:rPr dirty="0"/>
              <a:t>FastAPI / </a:t>
            </a:r>
            <a:r>
              <a:rPr dirty="0" err="1"/>
              <a:t>Uvicorn</a:t>
            </a:r>
            <a:br>
              <a:rPr dirty="0"/>
            </a:br>
            <a:r>
              <a:rPr dirty="0"/>
              <a:t>20+ REST 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376413"/>
            <a:ext cx="32004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4401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Calibri"/>
              </a:defRPr>
            </a:pPr>
            <a:r>
              <a:rPr dirty="0"/>
              <a:t>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3571" y="1716907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02B"/>
                </a:solidFill>
                <a:latin typeface="Calibri"/>
              </a:defRPr>
            </a:pPr>
            <a:r>
              <a:rPr dirty="0"/>
              <a:t>RQ Worker</a:t>
            </a:r>
            <a:br>
              <a:rPr dirty="0"/>
            </a:br>
            <a:r>
              <a:rPr dirty="0"/>
              <a:t>Assessment Pipeline</a:t>
            </a:r>
            <a:br>
              <a:rPr dirty="0"/>
            </a:br>
            <a:r>
              <a:rPr dirty="0"/>
              <a:t>11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37560"/>
            <a:ext cx="2286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554" y="3548113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rPr dirty="0"/>
              <a:t>PostgreSQL 16</a:t>
            </a:r>
            <a:br>
              <a:rPr dirty="0"/>
            </a:br>
            <a:r>
              <a:rPr dirty="0"/>
              <a:t>Primary 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337560"/>
            <a:ext cx="2286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3556535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t>Redis 7</a:t>
            </a:r>
            <a:br/>
            <a:r>
              <a:t>Queue +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337560"/>
            <a:ext cx="2286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6284" y="3474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rPr dirty="0"/>
              <a:t>Neo4j</a:t>
            </a:r>
            <a:br>
              <a:rPr dirty="0"/>
            </a:br>
            <a:r>
              <a:rPr dirty="0"/>
              <a:t>Knowledge Graph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337560"/>
            <a:ext cx="2286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491566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rPr dirty="0"/>
              <a:t>OCI Object Storage</a:t>
            </a:r>
            <a:br>
              <a:rPr dirty="0"/>
            </a:br>
            <a:r>
              <a:rPr dirty="0"/>
              <a:t>Uploads + Backups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AI / ML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2286000" cy="100584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034022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rPr dirty="0"/>
              <a:t>ONNX Runtime</a:t>
            </a:r>
            <a:br>
              <a:rPr dirty="0"/>
            </a:br>
            <a:r>
              <a:rPr dirty="0"/>
              <a:t>75KB — Default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892040"/>
            <a:ext cx="2286000" cy="100584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502198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rPr dirty="0" err="1"/>
              <a:t>PyTorch</a:t>
            </a:r>
            <a:r>
              <a:rPr dirty="0"/>
              <a:t> (CPU)</a:t>
            </a:r>
            <a:br>
              <a:rPr dirty="0"/>
            </a:br>
            <a:r>
              <a:rPr dirty="0" err="1"/>
              <a:t>MobileNet</a:t>
            </a:r>
            <a:r>
              <a:rPr dirty="0"/>
              <a:t> —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892040"/>
            <a:ext cx="2286000" cy="100584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50460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t>OpenAI CLIP</a:t>
            </a:r>
            <a:br/>
            <a:r>
              <a:t>OEM Identification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892040"/>
            <a:ext cx="2286000" cy="100584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5009952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02B"/>
                </a:solidFill>
                <a:latin typeface="Calibri"/>
              </a:defRPr>
            </a:pPr>
            <a:r>
              <a:rPr dirty="0"/>
              <a:t>FreeCAD</a:t>
            </a:r>
            <a:br>
              <a:rPr dirty="0"/>
            </a:br>
            <a:r>
              <a:rPr dirty="0"/>
              <a:t>STEP/STL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AI/ML Pipeline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DD"/>
                </a:solidFill>
                <a:latin typeface="Calibri"/>
              </a:defRPr>
            </a:pPr>
            <a:r>
              <a:t>Correctness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0116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488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02B"/>
                </a:solidFill>
                <a:latin typeface="Calibri"/>
              </a:defRPr>
            </a:pPr>
            <a:r>
              <a:t>1. Image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Downscale • Quality Check</a:t>
            </a:r>
            <a:br/>
            <a:r>
              <a:t>Low-light Enhancement</a:t>
            </a:r>
            <a:br/>
            <a:r>
              <a:t>Occlusion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54480"/>
            <a:ext cx="20116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48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02B"/>
                </a:solidFill>
                <a:latin typeface="Calibri"/>
              </a:defRPr>
            </a:pPr>
            <a:r>
              <a:t>2.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ONNX (75KB, 300ms)</a:t>
            </a:r>
            <a:br/>
            <a:r>
              <a:t>PyTorch (4MB, 2s)</a:t>
            </a:r>
            <a:br/>
            <a:r>
              <a:t>Heuristic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554480"/>
            <a:ext cx="20116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488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02B"/>
                </a:solidFill>
                <a:latin typeface="Calibri"/>
              </a:defRPr>
            </a:pPr>
            <a:r>
              <a:t>3. OEM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CLIP Embeddings</a:t>
            </a:r>
            <a:br/>
            <a:r>
              <a:t>Cosine Similarity</a:t>
            </a:r>
            <a:br/>
            <a:r>
              <a:t>Top-K Suggestions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554480"/>
            <a:ext cx="20116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488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02B"/>
                </a:solidFill>
                <a:latin typeface="Calibri"/>
              </a:defRPr>
            </a:pPr>
            <a:r>
              <a:t>4. Deviation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Geometry Extraction</a:t>
            </a:r>
            <a:br/>
            <a:r>
              <a:t>OEM Spec Comparison</a:t>
            </a:r>
            <a:br/>
            <a:r>
              <a:t>Delta % Computation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554480"/>
            <a:ext cx="20116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488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02B"/>
                </a:solidFill>
                <a:latin typeface="Calibri"/>
              </a:defRPr>
            </a:pPr>
            <a:r>
              <a:t>5. Scoring &amp;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Confidence (weighted)</a:t>
            </a:r>
            <a:br/>
            <a:r>
              <a:t>Risk Assessment</a:t>
            </a:r>
            <a:br/>
            <a:r>
              <a:t>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950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3159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02B"/>
                </a:solidFill>
                <a:latin typeface="Calibri"/>
              </a:defRPr>
            </a:pPr>
            <a:r>
              <a:t>Full Assessment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20–60s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636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02B"/>
                </a:solidFill>
                <a:latin typeface="Calibri"/>
              </a:defRPr>
            </a:pPr>
            <a:r>
              <a:t>Vehicle Classification (ONNX)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636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200–800ms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956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02B"/>
                </a:solidFill>
                <a:latin typeface="Calibri"/>
              </a:defRPr>
            </a:pPr>
            <a:r>
              <a:t>Deviation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956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3–10s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57799"/>
            <a:ext cx="112471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2760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02B"/>
                </a:solidFill>
                <a:latin typeface="Calibri"/>
              </a:defRPr>
            </a:pPr>
            <a:r>
              <a:t>PDF Report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2760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3–8s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57784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5961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02B"/>
                </a:solidFill>
                <a:latin typeface="Calibri"/>
              </a:defRPr>
            </a:pPr>
            <a:r>
              <a:t>3D CAD Export (STEP/STL)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596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1–3s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916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02B"/>
                </a:solidFill>
                <a:latin typeface="Calibri"/>
              </a:defRPr>
            </a:pPr>
            <a:r>
              <a:t>API Response (cached poll)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916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&lt;50ms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Experience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Calibri"/>
              </a:defRPr>
            </a:pPr>
            <a:r>
              <a:t>Assessment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Calibri"/>
              </a:defRPr>
            </a:pPr>
            <a:r>
              <a:t>3D Digital Twin 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6263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E1D454-8719-1C97-3809-957B62A2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0806"/>
            <a:ext cx="5169398" cy="26108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AB59B7-8A2F-1EB5-B2C8-5B67C280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80432"/>
            <a:ext cx="6126480" cy="26012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4353ED-F445-7B1D-A9E2-DEECF1A95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48769"/>
            <a:ext cx="5166360" cy="23148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93C98A-E979-BC69-7E12-BAC4D73BC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1" y="3916680"/>
            <a:ext cx="6126480" cy="2314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Innovation, Creativity &amp; Originality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Multi-strategy AI classification with graceful degradation fallback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Zero-shot vehicle identification via CLIP embeddings — no per-model training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Knowledge Graph (Neo4j) that learns from every assessment — "Retrofit DNA"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3D Digital Twin generated procedurally from 6 photos — no 3D scanner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FreeCAD integration for on-demand STEP/STL CAD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RQ-based async job pipeline with Server-Sent Events for real-time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Feature flags enable runtime capability toggling without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Degradation-aware architecture — graceful fallback when services are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DD"/>
                </a:solidFill>
                <a:latin typeface="Calibri"/>
              </a:defRPr>
            </a:pPr>
            <a:r>
              <a:t>1. Upload 6 vehicle photographs</a:t>
            </a:r>
            <a:br/>
            <a:r>
              <a:t>2. AI analysis in real-time with progress tracking</a:t>
            </a:r>
            <a:br/>
            <a:r>
              <a:t>3. Review assessment: classification, deviations, risks</a:t>
            </a:r>
            <a:br/>
            <a:r>
              <a:t>4. Explore 3D Digital Twin with overlays</a:t>
            </a:r>
            <a:br/>
            <a:r>
              <a:t>5. Generate Compliance Report with cost estimates</a:t>
            </a:r>
            <a:br/>
            <a:r>
              <a:t>6. Export CAD (STEP/STL) or share with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→ Switching to the live application now 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Impact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Impact on Automotive Ecosystem: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Democratises EV retrofitting — enables any workshop to assess vehicles confidently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Reduces assessment time by 90% (hours → minutes)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Standardises quality across the retrofit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Builds a global knowledge base of retrofit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Roadmap: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Phase 1 ✅ — Core platform: intake, classification,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Phase 2 ✅ — 3D Digital Twin, CAD export, knowledge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Phase 3 🔄 — RL-based recommendation optimisation, batch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02B"/>
                </a:solidFill>
                <a:latin typeface="Calibri"/>
              </a:defRPr>
            </a:pPr>
            <a:r>
              <a:t>▸  Phase 4 🔄 — Mobile app, marketplace, community-contributed OEM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Q&amp;A — Possible Jury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Model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How do you validate classification accuracy across different vehicle types and conditions?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How are the uploaded vehicle images and assessment data secured?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Can this platform handle 1,000+ concurrent workshops? What's the bottleneck?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60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How is this different from generic computer vision APIs or manual inspection?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What is the revenue model — per-assessment, subscription, or marketplace?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291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Edge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What happens when a vehicle type is not in the training data, or photos are of poor quality?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399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3433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Offline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6343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Does the platform work in regions with limited internet connectivity?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343399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3433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6343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How does the platform handle varying EV retrofit regulations across different states/countries?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394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Technical Debt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150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You mentioned multiple AI strategies — what's the cost of maintaining all three?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39496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5394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&amp; 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7150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DD"/>
                </a:solidFill>
                <a:latin typeface="Calibri"/>
              </a:defRPr>
            </a:pPr>
            <a:r>
              <a:t>What stage is the product at? Do you have pilot workshops using it currently?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Thank you!  •  meet.google.com/xjc-jogb-trd  •  ekemainaiML/RetroMindAI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Model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How do you validate classification accuracy across different vehicle types and conditions?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Validation dataset of 500+ labelled vehicle images across all 4 classes (3-wheeler, motorcycle, 4-wheeler, 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Stratified cross-validation by view angle (profile vs rear) and lighting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Confusion matrix tracked per deployment; retraining triggered when accuracy drops below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Continuous feedback loop: human-confirmed assessments are fed back into the training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Feature flag allows A/B testing between ONNX and PyTorch models in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Performance dashboard tracks accuracy, precision, recall per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How are the uploaded vehicle images and assessment data secured?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Encryption in transit: all traffic routed through Caddy with TLS 1.3 (Let's Encrypt certificates)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rPr dirty="0"/>
              <a:t>▸  Encryption at rest: PostgreSQL data encrypted at storage layer; uploads stored on isolated block volume or OCI Object Storage with </a:t>
            </a:r>
            <a:r>
              <a:rPr dirty="0" err="1"/>
              <a:t>NoPublicAccess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rPr dirty="0"/>
              <a:t>▸  Workspace isolation: all data scoped to </a:t>
            </a:r>
            <a:r>
              <a:rPr dirty="0" err="1"/>
              <a:t>workshop_id</a:t>
            </a:r>
            <a:r>
              <a:rPr dirty="0"/>
              <a:t> UUID — no cross-tenant data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Audit log: all mutations logged to immutable audit_logs table with 90-day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API key + JWT dual authentication with automatic expiry and rotation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Uploads stored in per-workshop directories; no direct public URL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Optional: retention policies configurable per workshop; auto-deletion after N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Can this platform handle 1,000+ concurrent workshops? What's the bottleneck?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Architecture supports horizontal scaling: stateless API behind Caddy, RQ workers can scale out, PostgreSQL primary-replica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Current bottleneck: single RQ worker processing assessments sequentially (20–60s each) — at ~2 assessments/minute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Scaling plan: add more RQ worker containers, implement priority queues, separate CPU-heavy AI stages into dedicated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Redis-backed queue can handle thousands of pending jobs with sub-ms enqueue/dequeue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ONNX model (75KB, 300ms inference) vs PyTorch (4MB, ~2s) — ONNX is preferred for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Neo4j read replicas for knowledge graph queries under high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Current 4-OCPU Ampere A1 instance handles ~5–10 concurrent assessments comfortably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How is this different from generic computer vision APIs or manual inspection?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Generic CV APIs (Google Vision, AWS Rekognition) classify objects but don't understand EV retrofit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RetroMindAI goes beyond classification: deviation detection against OEM specs, geometry extraction, battery placement optimisation, wiring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End-to-end workflow: 6 photos → compliance report with cost estimates, not just a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Knowledge graph learns from every assessment — gets smarter over time (Retrofit DNA)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FreeCAD integration for actual 3D CAD export (STEP/STL) — not just visualisation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Designed specifically for the retrofit ecosystem: workshops, OEMs, compliance bodies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vs manual: 90% faster, standardised quality, consistent scoring,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What is the revenue model — per-assessment, subscription, or marketplace?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Tiered SaaS subscription for workshops: Free (5 assessments/month), Standard (50/month), Professional (unlimited + priority processing)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Per-assessment overage pricing for exceeding plan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Enterprise tier: on-prem deployment, custom OEM data integration, SLA guarantees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Future: marketplace for OEM data packs, retrofit component suppliers, training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Stripe integration already implemented for billing and usage metering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API-based pricing for OEMs and fleet operators who want to integrate programmatically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What happens when a vehicle type is not in the training data, or photos are of poor quality?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Classification fallback chain: ONNX → PyTorch → Heuristic (rule-based using image properties)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Classification returns 'unknown' class with confidence threshold (0.35 minimum) — transparent to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Quality gates: blur detection rejects poor images at upload time; occlusion detection flags obstructed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Low-light auto-enhancement (CLAHE) recovers usable images from dark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Swap detection: if views are swapped/mislabeled, system flags and prompts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Every edge case is logged and tagged for model retraining — the system learns from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User can always manually override classification and provide human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Offline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Does the platform work in regions with limited internet connectivity?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Current architecture requires internet connectivity for assessment processing (cloud-based AI 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Frontend Progressive Web App: service worker caches static assets for intermittent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Capture page uses IndexedDB queue — photos can be taken offline, queued, and uploaded when connection is restored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Future: lightweight ONNX runtime for on-device classification at the workshop (edge inference)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Async job model means users can upload photos and check results later — no real-time connection needed after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Batch ZIP upload for bulk processing in one shot: upload offline, process when 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Regulatory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How does the platform handle varying EV retrofit regulations across different states/countries?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Compliance engine is rule-based and configurable — regulation sets can be defined per region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rPr dirty="0"/>
              <a:t>▸  Currently supports Indian regulations (ICAT, ARAI) as the primary compliance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Each assessment checks against applicable regulation set based on workshop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Regulation parameters: battery voltage limits, weight distribution, ground clearance, braking system compatibility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Compliance state output: compliant, conditional (with mitigations), or non-compliant — with specific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Regulation updates can be deployed as configuration changes without code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Future: community-contributed regulation packs, government API integration for real-time rule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Technical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You mentioned multiple AI strategies — what's the cost of maintaining all three?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Maintenance cost is minimal: shared preprocessing pipeline, same input/output interface, strategy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ONNX (primary): 75KB model, single dependency (onnxruntime), 300ms inference — lowest maintenance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PyTorch (fallback): feature-flagged, CPU-only, 4MB model — only maintained when enable_pytorch=True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Heuristic (last resort): pure OpenCV rules, no model file, zero ML dependencies — never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Each strategy is ~50–100 lines of code; adding a new strategy is trivial via the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Testing covers all three paths with mock inference; CI runs unit tests for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The fallback chain is a reliability feature, not technical debt — it ensures 99.9% uptime even if models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Q&amp;A — Team &amp;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DD"/>
                </a:solidFill>
                <a:latin typeface="Calibri"/>
              </a:defRPr>
            </a:pPr>
            <a:r>
              <a:t>What stage is the product at? Do you have pilot workshops using it currently?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Current stage: Functional MVP with complete assessment pipeline, 3D digital twin, compliance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All core features implemented: intake, classification, deviation detection, risk scoring, recommendations, CAD export, 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18 database migrations, 28 test suites, CI/CD pipeline fully 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Production deployment on Oracle Cloud Ampere A1 (ARM64, 4 OCPU, 24GB RAM)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Pilot workshops: currently in onboarding phase with 2 workshop partners for beta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Built by a solo developer; 6 months from concept to functional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02B"/>
                </a:solidFill>
                <a:latin typeface="Calibri"/>
              </a:defRPr>
            </a:pPr>
            <a:r>
              <a:t>▸  Next: onboard 10+ beta workshops, collect feedback, iterate on accuracy and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RetroMindAI  |  Panel 2  |  16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1944</TotalTime>
  <Words>2357</Words>
  <Application>Microsoft Macintosh PowerPoint</Application>
  <PresentationFormat>Widescreen</PresentationFormat>
  <Paragraphs>248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Ekemini Stephen</cp:lastModifiedBy>
  <cp:revision>6</cp:revision>
  <dcterms:created xsi:type="dcterms:W3CDTF">2013-01-27T09:14:16Z</dcterms:created>
  <dcterms:modified xsi:type="dcterms:W3CDTF">2026-06-14T17:48:58Z</dcterms:modified>
  <cp:category/>
</cp:coreProperties>
</file>