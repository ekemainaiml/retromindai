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8" r:id="rId3"/>
    <p:sldId id="258" r:id="rId4"/>
    <p:sldId id="259" r:id="rId5"/>
    <p:sldId id="269" r:id="rId6"/>
    <p:sldId id="260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1" r:id="rId15"/>
    <p:sldId id="262" r:id="rId16"/>
    <p:sldId id="277" r:id="rId17"/>
    <p:sldId id="26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8"/>
  </p:normalViewPr>
  <p:slideViewPr>
    <p:cSldViewPr snapToGrid="0">
      <p:cViewPr varScale="1">
        <p:scale>
          <a:sx n="139" d="100"/>
          <a:sy n="139" d="100"/>
        </p:scale>
        <p:origin x="84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903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084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80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00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926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558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374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867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163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851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ekemainaiML/RetroMindAI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kemainaiML/RetroMindA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021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dirty="0">
                <a:solidFill>
                  <a:srgbClr val="92D050"/>
                </a:solidFill>
              </a:rPr>
              <a:t>ET AutoTech Hackathon 2026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37687"/>
            <a:ext cx="8520600" cy="1756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800" dirty="0">
                <a:solidFill>
                  <a:srgbClr val="92D050"/>
                </a:solidFill>
              </a:rPr>
              <a:t>Theme: </a:t>
            </a:r>
            <a:r>
              <a:rPr sz="1800" dirty="0">
                <a:solidFill>
                  <a:schemeClr val="bg1"/>
                </a:solidFill>
              </a:rPr>
              <a:t>AI for EV Retrofit &amp; Conversion Ecosystem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rgbClr val="92D050"/>
                </a:solidFill>
              </a:rPr>
              <a:t>Team Name: </a:t>
            </a:r>
            <a:r>
              <a:rPr sz="1800" dirty="0" err="1">
                <a:solidFill>
                  <a:schemeClr val="bg1"/>
                </a:solidFill>
              </a:rPr>
              <a:t>Ekemainai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rgbClr val="92D050"/>
                </a:solidFill>
              </a:rPr>
              <a:t>Team Members:</a:t>
            </a:r>
            <a:r>
              <a:rPr lang="en-US" sz="1800" dirty="0">
                <a:solidFill>
                  <a:srgbClr val="92D050"/>
                </a:solidFill>
              </a:rPr>
              <a:t> </a:t>
            </a:r>
            <a:r>
              <a:rPr sz="1800" dirty="0">
                <a:solidFill>
                  <a:schemeClr val="bg1"/>
                </a:solidFill>
              </a:rPr>
              <a:t>Ekemini Ini Stephen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98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rgbClr val="92D050"/>
                </a:solidFill>
              </a:rPr>
              <a:t>Theme Chosen - Brief Summary &amp; Proposed Solution/Idea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766886"/>
            <a:ext cx="8520600" cy="4196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 algn="l">
              <a:buNone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Theme: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 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AI for EV Retrofit &amp; Conversion Ecosystem</a:t>
            </a:r>
          </a:p>
          <a:p>
            <a:pPr marL="114300" indent="0" algn="l">
              <a:buNone/>
            </a:pPr>
            <a:endParaRPr lang="en-GB" dirty="0">
              <a:solidFill>
                <a:schemeClr val="bg1"/>
              </a:solidFill>
              <a:latin typeface="-apple-system"/>
            </a:endParaRPr>
          </a:p>
          <a:p>
            <a:pPr marL="114300" indent="0" algn="l">
              <a:buNone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Problem: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 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Independent EV retrofit workshops in India perform high-stakes engineering decisions on imperfect vehicles (damaged, modified, undocumented) using inconsistent manual workflows and tribal knowledge — leading to slow turnaround, uneven safety, and poor standardization.</a:t>
            </a:r>
          </a:p>
          <a:p>
            <a:pPr marL="114300" indent="0" algn="l">
              <a:buNone/>
            </a:pPr>
            <a:endParaRPr lang="en-GB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marL="114300" indent="0" algn="l">
              <a:buNone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Solution: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 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RetroMind AI — an end-to-end AI-powered platform that ingests vehicle photos, detects structural deviations, and produces deviation-aware retrofit recommendations (battery placement, wiring routing, risk analysis, compliance reports).</a:t>
            </a:r>
          </a:p>
          <a:p>
            <a:pPr marL="114300" indent="0" algn="l">
              <a:buNone/>
            </a:pPr>
            <a:endParaRPr lang="en-GB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marL="114300" indent="0" algn="l">
              <a:buNone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Type: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 </a:t>
            </a: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New solution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 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— first-of-its-kind deviation-aware retrofit intelligence engine. Not an improvement on existing tools; retrofits currently have no AI-assisted engineering workflow.</a:t>
            </a:r>
          </a:p>
          <a:p>
            <a:pPr marL="114300" indent="0">
              <a:buNone/>
            </a:pPr>
            <a:endParaRPr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52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rgbClr val="92D050"/>
                </a:solidFill>
              </a:rPr>
              <a:t>Impact of Proposed Solution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6C69F1-75B0-B7D7-5FA4-A6CF1513A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206998"/>
              </p:ext>
            </p:extLst>
          </p:nvPr>
        </p:nvGraphicFramePr>
        <p:xfrm>
          <a:off x="311700" y="1152397"/>
          <a:ext cx="3395472" cy="377467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697736">
                  <a:extLst>
                    <a:ext uri="{9D8B030D-6E8A-4147-A177-3AD203B41FA5}">
                      <a16:colId xmlns:a16="http://schemas.microsoft.com/office/drawing/2014/main" val="2336436010"/>
                    </a:ext>
                  </a:extLst>
                </a:gridCol>
                <a:gridCol w="1697736">
                  <a:extLst>
                    <a:ext uri="{9D8B030D-6E8A-4147-A177-3AD203B41FA5}">
                      <a16:colId xmlns:a16="http://schemas.microsoft.com/office/drawing/2014/main" val="1924763227"/>
                    </a:ext>
                  </a:extLst>
                </a:gridCol>
              </a:tblGrid>
              <a:tr h="523862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Metric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Target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03498520"/>
                  </a:ext>
                </a:extLst>
              </a:tr>
              <a:tr h="737354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Assessment time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60s (vs 4-6 hours manual)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865443758"/>
                  </a:ext>
                </a:extLst>
              </a:tr>
              <a:tr h="737354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Engineering effort reduction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~70% per retrofit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373536"/>
                  </a:ext>
                </a:extLst>
              </a:tr>
              <a:tr h="1038754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Safety consistency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Standardized via AI, not tribal knowledge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0976621"/>
                  </a:ext>
                </a:extLst>
              </a:tr>
              <a:tr h="737354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Cost estimation accuracy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Deviation-aware, not generic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704048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481963-91BB-E061-702B-B0B50549901A}"/>
              </a:ext>
            </a:extLst>
          </p:cNvPr>
          <p:cNvSpPr txBox="1"/>
          <p:nvPr/>
        </p:nvSpPr>
        <p:spPr>
          <a:xfrm>
            <a:off x="210312" y="816873"/>
            <a:ext cx="795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4F578-C7DF-F6E3-BBC3-C451FFF2FDE4}"/>
              </a:ext>
            </a:extLst>
          </p:cNvPr>
          <p:cNvSpPr txBox="1"/>
          <p:nvPr/>
        </p:nvSpPr>
        <p:spPr>
          <a:xfrm>
            <a:off x="3822192" y="816873"/>
            <a:ext cx="511149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Scalability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Single VM → Fleet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: 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Currently deployed on 1 OCI Ampere VM (4 OCPU). Horizontally scalable via container orchestration (K8s).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Vehicle types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: 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Currently 5 classes (3-wheeler, 4-wheeler, motorcycle, scooter, commercial). Extensible via OEM data layer + CLIP zero-shot classification.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Geography</a:t>
            </a:r>
            <a:r>
              <a:rPr lang="en-GB" b="0" i="0" dirty="0">
                <a:solidFill>
                  <a:srgbClr val="92D050"/>
                </a:solidFill>
                <a:effectLst/>
                <a:latin typeface="-apple-system"/>
              </a:rPr>
              <a:t>: 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India-first (Tier 1/2 workshops). Architecture is region-agnostic.</a:t>
            </a:r>
          </a:p>
          <a:p>
            <a:pPr algn="l"/>
            <a:endParaRPr lang="en-GB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Feasibility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bg1"/>
                </a:solidFill>
                <a:effectLst/>
                <a:latin typeface="-apple-system"/>
              </a:rPr>
              <a:t>Running prototype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: 401 tests passing, API healthy, frontend deployed.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bg1"/>
                </a:solidFill>
                <a:effectLst/>
                <a:latin typeface="-apple-system"/>
              </a:rPr>
              <a:t>Deployment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: OCI Always Free Tier (</a:t>
            </a:r>
            <a:r>
              <a:rPr lang="en-NG" b="0" i="0" dirty="0">
                <a:solidFill>
                  <a:schemeClr val="bg1"/>
                </a:solidFill>
                <a:effectLst/>
                <a:latin typeface="-apple-system"/>
              </a:rPr>
              <a:t>₹0 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infra cost for MVP).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bg1"/>
                </a:solidFill>
                <a:effectLst/>
                <a:latin typeface="-apple-system"/>
              </a:rPr>
              <a:t>Tech risk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: All components have ARM64 Docker support. Production-ready.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179849"/>
            <a:ext cx="8520600" cy="441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Tech Stack &amp;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FDD5A-B0E8-9A84-D1E7-5227B0D9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6" y="820420"/>
            <a:ext cx="3889756" cy="31369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51AD93-BE2C-C4F2-94FA-2A4C97A86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48854"/>
              </p:ext>
            </p:extLst>
          </p:nvPr>
        </p:nvGraphicFramePr>
        <p:xfrm>
          <a:off x="4224528" y="839164"/>
          <a:ext cx="4712716" cy="4215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408">
                  <a:extLst>
                    <a:ext uri="{9D8B030D-6E8A-4147-A177-3AD203B41FA5}">
                      <a16:colId xmlns:a16="http://schemas.microsoft.com/office/drawing/2014/main" val="1977357272"/>
                    </a:ext>
                  </a:extLst>
                </a:gridCol>
                <a:gridCol w="1603465">
                  <a:extLst>
                    <a:ext uri="{9D8B030D-6E8A-4147-A177-3AD203B41FA5}">
                      <a16:colId xmlns:a16="http://schemas.microsoft.com/office/drawing/2014/main" val="234806819"/>
                    </a:ext>
                  </a:extLst>
                </a:gridCol>
                <a:gridCol w="2248843">
                  <a:extLst>
                    <a:ext uri="{9D8B030D-6E8A-4147-A177-3AD203B41FA5}">
                      <a16:colId xmlns:a16="http://schemas.microsoft.com/office/drawing/2014/main" val="2551760088"/>
                    </a:ext>
                  </a:extLst>
                </a:gridCol>
              </a:tblGrid>
              <a:tr h="254965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</a:rPr>
                        <a:t>Layer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</a:rPr>
                        <a:t>Technology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>
                          <a:effectLst/>
                        </a:rPr>
                        <a:t>Role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777727235"/>
                  </a:ext>
                </a:extLst>
              </a:tr>
              <a:tr h="417552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Frontend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Next.js 16 + Tailwind CSS 4 + Three.js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Workshop UI, 3D twin, reports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94562368"/>
                  </a:ext>
                </a:extLst>
              </a:tr>
              <a:tr h="417552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API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FastAPI (Python 3.12)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REST endpoints, job orchestration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99446829"/>
                  </a:ext>
                </a:extLst>
              </a:tr>
              <a:tr h="329326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Worker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RQ + Redis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Background AI pipeline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64705842"/>
                  </a:ext>
                </a:extLst>
              </a:tr>
              <a:tr h="580138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Database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PostgreSQL 16 (SQLAlchemy + Alembic)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Jobs, assessments, compliance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72073794"/>
                  </a:ext>
                </a:extLst>
              </a:tr>
              <a:tr h="414739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Graph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Neo4j (AuraDB)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Retrofit DNA knowledge graph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46832738"/>
                  </a:ext>
                </a:extLst>
              </a:tr>
              <a:tr h="457559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AI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OpenCV + ONNX + CLIP + PyTorch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Classification, detection, optimization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97829878"/>
                  </a:ext>
                </a:extLst>
              </a:tr>
              <a:tr h="417552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CAD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FreeCAD (separate container)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STEP/STL export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33646449"/>
                  </a:ext>
                </a:extLst>
              </a:tr>
              <a:tr h="417552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Proxy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Caddy (auto Let's Encrypt)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TLS termination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80998165"/>
                  </a:ext>
                </a:extLst>
              </a:tr>
              <a:tr h="417552"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Infra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>
                          <a:effectLst/>
                        </a:rPr>
                        <a:t>OCI Ampere A1 Flex (4 OCPU, 24 GB)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effectLst/>
                        </a:rPr>
                        <a:t>Single VM deployment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387220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80433"/>
            <a:ext cx="8520600" cy="423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Architecture &amp; 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52802-E417-05F5-787F-54E90460D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773267"/>
            <a:ext cx="8275320" cy="417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0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43857"/>
            <a:ext cx="8520600" cy="533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>
                <a:solidFill>
                  <a:srgbClr val="92D050"/>
                </a:solidFill>
              </a:rPr>
              <a:t>RetroMind AI – Landing Page </a:t>
            </a:r>
            <a:r>
              <a:rPr dirty="0">
                <a:solidFill>
                  <a:srgbClr val="92D050"/>
                </a:solidFill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D283E-B576-3386-4E8D-B1BC46E40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777240"/>
            <a:ext cx="830275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43857"/>
            <a:ext cx="8520600" cy="533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>
                <a:solidFill>
                  <a:srgbClr val="92D050"/>
                </a:solidFill>
              </a:rPr>
              <a:t>RetroMind AI – New Retrofit Assessment page </a:t>
            </a:r>
            <a:r>
              <a:rPr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FEC70-5265-265F-418A-B0ADDF45E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777240"/>
            <a:ext cx="832104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6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43857"/>
            <a:ext cx="3272232" cy="16855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RetroMind AI – Compliance Report Page </a:t>
            </a:r>
            <a:r>
              <a:rPr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E36B9-80E2-A151-0DBB-7D6697985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932" y="128016"/>
            <a:ext cx="5358900" cy="48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0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43857"/>
            <a:ext cx="3409908" cy="1018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RetroMind AI – Settings Page </a:t>
            </a:r>
            <a:r>
              <a:rPr sz="2400"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B8268-3770-E3DB-C888-275F4C919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109728"/>
            <a:ext cx="5220433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1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92244" y="114301"/>
            <a:ext cx="2413212" cy="1540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RetroMind AI – Assessment History Page </a:t>
            </a:r>
            <a:r>
              <a:rPr sz="2400"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F8779-78D9-1D2F-C440-996ECC4A6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100584"/>
            <a:ext cx="6464809" cy="492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1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92244" y="114301"/>
            <a:ext cx="1910292" cy="1540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RetroMind AI – Knowledge Graph Page </a:t>
            </a:r>
            <a:r>
              <a:rPr sz="2400"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96262-03FF-ECDF-F524-728339314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0"/>
            <a:ext cx="71414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9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92244" y="114301"/>
            <a:ext cx="2285196" cy="1540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RetroMind AI – Workshop Analytics Page </a:t>
            </a:r>
            <a:r>
              <a:rPr sz="2400"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15986-3429-EE00-CC0C-8CD2CF85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74" y="0"/>
            <a:ext cx="5586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1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567732" y="114301"/>
            <a:ext cx="7863036" cy="6172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RetroMind AI – Admin Dashboard Page </a:t>
            </a:r>
            <a:r>
              <a:rPr sz="2400" dirty="0">
                <a:solidFill>
                  <a:srgbClr val="92D050"/>
                </a:solidFill>
              </a:rPr>
              <a:t>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6BC90-7113-813E-27D1-D108282E1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817562"/>
            <a:ext cx="7772400" cy="3508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AB6A9-4420-CA5A-0052-B5F69B048BF3}"/>
              </a:ext>
            </a:extLst>
          </p:cNvPr>
          <p:cNvSpPr txBox="1"/>
          <p:nvPr/>
        </p:nvSpPr>
        <p:spPr>
          <a:xfrm>
            <a:off x="658368" y="454155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bg1"/>
                </a:solidFill>
                <a:effectLst/>
                <a:latin typeface="-apple-system"/>
              </a:rPr>
              <a:t>Git URL: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 </a:t>
            </a:r>
            <a:r>
              <a:rPr lang="en-GB" b="0" i="0" u="none" strike="noStrike" dirty="0">
                <a:solidFill>
                  <a:srgbClr val="48A0C7"/>
                </a:solidFill>
                <a:effectLst/>
                <a:latin typeface="-apple-system"/>
                <a:hlinkClick r:id="rId4"/>
              </a:rPr>
              <a:t>https://github.com/ekemainaiML/RetroMindAI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65819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115841"/>
            <a:ext cx="8520600" cy="478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rgbClr val="92D050"/>
                </a:solidFill>
              </a:rPr>
              <a:t>Why Your Solution Must Be Considered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93555-0E36-167D-9799-9B03442673EA}"/>
              </a:ext>
            </a:extLst>
          </p:cNvPr>
          <p:cNvSpPr txBox="1"/>
          <p:nvPr/>
        </p:nvSpPr>
        <p:spPr>
          <a:xfrm>
            <a:off x="311700" y="586591"/>
            <a:ext cx="75612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solidFill>
                  <a:srgbClr val="BBBEBF"/>
                </a:solidFill>
                <a:effectLst/>
                <a:latin typeface="-apple-system"/>
              </a:rPr>
              <a:t>1. </a:t>
            </a:r>
            <a:r>
              <a:rPr lang="en-GB" sz="1200" b="1" i="0" dirty="0">
                <a:solidFill>
                  <a:srgbClr val="92D050"/>
                </a:solidFill>
                <a:effectLst/>
                <a:latin typeface="-apple-system"/>
              </a:rPr>
              <a:t>Real working prototype 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-apple-system"/>
              </a:rPr>
              <a:t>— 401 tests, all services healthy, end-to-end flow running</a:t>
            </a:r>
          </a:p>
          <a:p>
            <a:pPr algn="l"/>
            <a:endParaRPr lang="en-GB" sz="1200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sz="1200" b="1" i="0" dirty="0">
                <a:solidFill>
                  <a:srgbClr val="BBBEBF"/>
                </a:solidFill>
                <a:effectLst/>
                <a:latin typeface="-apple-system"/>
              </a:rPr>
              <a:t>2</a:t>
            </a:r>
            <a:r>
              <a:rPr lang="en-GB" sz="1200" b="1" i="0" dirty="0">
                <a:solidFill>
                  <a:srgbClr val="92D050"/>
                </a:solidFill>
                <a:effectLst/>
                <a:latin typeface="-apple-system"/>
              </a:rPr>
              <a:t>. Technical depth across the stack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AI/ML: CLIP zero-shot, OpenCV heuristics, ONNX Runtime, </a:t>
            </a:r>
            <a:r>
              <a:rPr lang="en-GB" sz="1200" b="0" i="0" dirty="0" err="1">
                <a:solidFill>
                  <a:schemeClr val="bg1"/>
                </a:solidFill>
                <a:effectLst/>
                <a:latin typeface="-apple-system"/>
              </a:rPr>
              <a:t>PyTorch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lang="en-GB" sz="1200" b="0" i="0" dirty="0" err="1">
                <a:solidFill>
                  <a:schemeClr val="bg1"/>
                </a:solidFill>
                <a:effectLst/>
                <a:latin typeface="-apple-system"/>
              </a:rPr>
              <a:t>Optuna</a:t>
            </a:r>
            <a:endParaRPr lang="en-GB" sz="1200" dirty="0">
              <a:solidFill>
                <a:schemeClr val="bg1"/>
              </a:solidFill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Engineering: Graceful degradation, confidence engine, deviation detection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DevOps: OCI Terraform provisioning, GitHub Actions CI/CD, Caddy TLS, Docker Compose</a:t>
            </a:r>
          </a:p>
          <a:p>
            <a:pPr algn="l"/>
            <a:endParaRPr lang="en-GB" sz="1200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sz="1200" b="1" i="0" dirty="0">
                <a:solidFill>
                  <a:srgbClr val="BBBEBF"/>
                </a:solidFill>
                <a:effectLst/>
                <a:latin typeface="-apple-system"/>
              </a:rPr>
              <a:t>3. </a:t>
            </a:r>
            <a:r>
              <a:rPr lang="en-GB" sz="1200" b="1" i="0" dirty="0">
                <a:solidFill>
                  <a:srgbClr val="92D050"/>
                </a:solidFill>
                <a:effectLst/>
                <a:latin typeface="-apple-system"/>
              </a:rPr>
              <a:t>Production-grade architecture — Not a hackathon throwaway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Feature flags for all optional capabilities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8 Alembic DB migrations, 18 OEM REST routes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Infrastructure degradation telemetry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ARM64-native deployment (no QEMU emulation)</a:t>
            </a:r>
          </a:p>
          <a:p>
            <a:pPr algn="l"/>
            <a:endParaRPr lang="en-GB" sz="1200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sz="1200" b="1" i="0" dirty="0">
                <a:solidFill>
                  <a:srgbClr val="BBBEBF"/>
                </a:solidFill>
                <a:effectLst/>
                <a:latin typeface="-apple-system"/>
              </a:rPr>
              <a:t>4. </a:t>
            </a:r>
            <a:r>
              <a:rPr lang="en-GB" sz="1200" b="1" i="0" dirty="0">
                <a:solidFill>
                  <a:srgbClr val="92D050"/>
                </a:solidFill>
                <a:effectLst/>
                <a:latin typeface="-apple-system"/>
              </a:rPr>
              <a:t>Clear real-world impact — Indian 3-wheeler retrofit workshops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60s assessment vs 4-6 hours manual engineering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Deviation-aware safety (catches frame damage, asymmetry, mods)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Self-learning via Neo4j Retrofit DNA graph</a:t>
            </a:r>
          </a:p>
          <a:p>
            <a:pPr algn="l"/>
            <a:endParaRPr lang="en-GB" sz="1200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sz="1200" b="1" i="0" dirty="0">
                <a:solidFill>
                  <a:srgbClr val="BBBEBF"/>
                </a:solidFill>
                <a:effectLst/>
                <a:latin typeface="-apple-system"/>
              </a:rPr>
              <a:t>5. </a:t>
            </a:r>
            <a:r>
              <a:rPr lang="en-GB" sz="1200" b="1" i="0" dirty="0">
                <a:solidFill>
                  <a:srgbClr val="92D050"/>
                </a:solidFill>
                <a:effectLst/>
                <a:latin typeface="-apple-system"/>
              </a:rPr>
              <a:t>Innovation: Deviation-aware intelligence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Not "generic AI labels" — every recommendation adapts to detected vehicle imperfections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CLIP zero-shot: no training dataset needed for new vehicle types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chemeClr val="bg1"/>
                </a:solidFill>
                <a:effectLst/>
                <a:latin typeface="-apple-system"/>
              </a:rPr>
              <a:t>Confidence engine with explicit reason codes (not black-box)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201972" y="97553"/>
            <a:ext cx="8520600" cy="505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rgbClr val="92D050"/>
                </a:solidFill>
              </a:rPr>
              <a:t>Any Additional Information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1CBBC9-0B3A-D4E0-1A98-437A0A694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174878"/>
              </p:ext>
            </p:extLst>
          </p:nvPr>
        </p:nvGraphicFramePr>
        <p:xfrm>
          <a:off x="293412" y="965437"/>
          <a:ext cx="4351741" cy="4080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218">
                  <a:extLst>
                    <a:ext uri="{9D8B030D-6E8A-4147-A177-3AD203B41FA5}">
                      <a16:colId xmlns:a16="http://schemas.microsoft.com/office/drawing/2014/main" val="1168727720"/>
                    </a:ext>
                  </a:extLst>
                </a:gridCol>
                <a:gridCol w="1977866">
                  <a:extLst>
                    <a:ext uri="{9D8B030D-6E8A-4147-A177-3AD203B41FA5}">
                      <a16:colId xmlns:a16="http://schemas.microsoft.com/office/drawing/2014/main" val="945307505"/>
                    </a:ext>
                  </a:extLst>
                </a:gridCol>
                <a:gridCol w="1832657">
                  <a:extLst>
                    <a:ext uri="{9D8B030D-6E8A-4147-A177-3AD203B41FA5}">
                      <a16:colId xmlns:a16="http://schemas.microsoft.com/office/drawing/2014/main" val="1223803143"/>
                    </a:ext>
                  </a:extLst>
                </a:gridCol>
              </a:tblGrid>
              <a:tr h="48688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Phase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Capability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Status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78968184"/>
                  </a:ext>
                </a:extLst>
              </a:tr>
              <a:tr h="4868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P0.5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Optuna hyperparameter tuning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>
                          <a:effectLst/>
                        </a:rPr>
                        <a:t>✅ </a:t>
                      </a:r>
                      <a:r>
                        <a:rPr lang="en-GB">
                          <a:effectLst/>
                        </a:rPr>
                        <a:t>Built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22100528"/>
                  </a:ext>
                </a:extLst>
              </a:tr>
              <a:tr h="4868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PyTorch MobileNetV3 CNN classifier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>
                          <a:effectLst/>
                        </a:rPr>
                        <a:t>✅ </a:t>
                      </a:r>
                      <a:r>
                        <a:rPr lang="en-GB">
                          <a:effectLst/>
                        </a:rPr>
                        <a:t>Built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50530405"/>
                  </a:ext>
                </a:extLst>
              </a:tr>
              <a:tr h="685896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RLlib adaptive recommendations (PPO)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>
                          <a:effectLst/>
                        </a:rPr>
                        <a:t>✅ </a:t>
                      </a:r>
                      <a:r>
                        <a:rPr lang="en-GB">
                          <a:effectLst/>
                        </a:rPr>
                        <a:t>Built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28835816"/>
                  </a:ext>
                </a:extLst>
              </a:tr>
              <a:tr h="685896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Generative AI refinement (OpenAI/Anthropic)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>
                          <a:effectLst/>
                        </a:rPr>
                        <a:t>✅ </a:t>
                      </a:r>
                      <a:r>
                        <a:rPr lang="en-GB">
                          <a:effectLst/>
                        </a:rPr>
                        <a:t>Built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7581644"/>
                  </a:ext>
                </a:extLst>
              </a:tr>
              <a:tr h="4868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FreeCAD STEP/STL CAD export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>
                          <a:effectLst/>
                        </a:rPr>
                        <a:t>✅ </a:t>
                      </a:r>
                      <a:r>
                        <a:rPr lang="en-GB">
                          <a:effectLst/>
                        </a:rPr>
                        <a:t>Built, ARM64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641757518"/>
                  </a:ext>
                </a:extLst>
              </a:tr>
              <a:tr h="4868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Continuous learning (hourly retrain)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en-NG" dirty="0">
                          <a:effectLst/>
                        </a:rPr>
                        <a:t>✅ </a:t>
                      </a:r>
                      <a:r>
                        <a:rPr lang="en-GB" dirty="0">
                          <a:effectLst/>
                        </a:rPr>
                        <a:t>Built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77911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DD7787-DAA8-53BB-F843-CA49E593AC42}"/>
              </a:ext>
            </a:extLst>
          </p:cNvPr>
          <p:cNvSpPr txBox="1"/>
          <p:nvPr/>
        </p:nvSpPr>
        <p:spPr>
          <a:xfrm>
            <a:off x="4864609" y="603504"/>
            <a:ext cx="40774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dirty="0">
                <a:solidFill>
                  <a:srgbClr val="92D050"/>
                </a:solidFill>
                <a:effectLst/>
                <a:latin typeface="-apple-system"/>
              </a:rPr>
              <a:t>Assessment Pipeline (11 stages, 60s target)</a:t>
            </a:r>
          </a:p>
          <a:p>
            <a:pPr algn="l"/>
            <a:r>
              <a:rPr lang="en-GB" sz="1600" b="0" i="0" dirty="0">
                <a:solidFill>
                  <a:schemeClr val="bg1"/>
                </a:solidFill>
                <a:effectLst/>
                <a:latin typeface="-apple-system"/>
              </a:rPr>
              <a:t>1. Upload Validation → 2. Image Quality → 3. Vehicle Classification → 4. Geometry Extraction → 5. Deviation Detection → 6. Feasibility Scoring → 7. Risk Analysis → 8. Battery Optimization → 9. Wiring Guidance → 10. Digital Twin → 11. Finalize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FB404-E06C-BA09-2DE0-AAA317BFD185}"/>
              </a:ext>
            </a:extLst>
          </p:cNvPr>
          <p:cNvSpPr txBox="1"/>
          <p:nvPr/>
        </p:nvSpPr>
        <p:spPr>
          <a:xfrm>
            <a:off x="421428" y="603504"/>
            <a:ext cx="422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Optional Capabilities (Feature-Flagged)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201972" y="97553"/>
            <a:ext cx="8520600" cy="505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b="1" dirty="0">
                <a:solidFill>
                  <a:srgbClr val="92D050"/>
                </a:solidFill>
              </a:rPr>
              <a:t>Any Additional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57F6B-DD45-FF86-CCE5-24976E24B346}"/>
              </a:ext>
            </a:extLst>
          </p:cNvPr>
          <p:cNvSpPr txBox="1"/>
          <p:nvPr/>
        </p:nvSpPr>
        <p:spPr>
          <a:xfrm>
            <a:off x="201972" y="912043"/>
            <a:ext cx="66560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dirty="0">
                <a:solidFill>
                  <a:srgbClr val="92D050"/>
                </a:solidFill>
                <a:effectLst/>
                <a:latin typeface="-apple-system"/>
              </a:rPr>
              <a:t>Key Metrics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bg1"/>
                </a:solidFill>
                <a:effectLst/>
                <a:latin typeface="-apple-system"/>
              </a:rPr>
              <a:t>401 tests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 (unit + integration)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bg1"/>
                </a:solidFill>
                <a:effectLst/>
                <a:latin typeface="-apple-system"/>
              </a:rPr>
              <a:t>18 OEM REST endpoints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 (makes, models, trims, specs)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bg1"/>
                </a:solidFill>
                <a:effectLst/>
                <a:latin typeface="-apple-system"/>
              </a:rPr>
              <a:t>8 Alembic migrations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 (001-008)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bg1"/>
                </a:solidFill>
                <a:effectLst/>
                <a:latin typeface="-apple-system"/>
              </a:rPr>
              <a:t>13-section compliance report</a:t>
            </a:r>
            <a:endParaRPr lang="en-GB" sz="1800" dirty="0">
              <a:solidFill>
                <a:schemeClr val="bg1"/>
              </a:solidFill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bg1"/>
                </a:solidFill>
                <a:effectLst/>
                <a:latin typeface="-apple-system"/>
              </a:rPr>
              <a:t>OCI Always Free Tier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: </a:t>
            </a:r>
            <a:r>
              <a:rPr lang="en-NG" sz="1800" b="0" i="0" dirty="0">
                <a:solidFill>
                  <a:schemeClr val="bg1"/>
                </a:solidFill>
                <a:effectLst/>
                <a:latin typeface="-apple-system"/>
              </a:rPr>
              <a:t>₹0/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month infrastructure</a:t>
            </a:r>
          </a:p>
          <a:p>
            <a:pPr algn="l"/>
            <a:endParaRPr lang="en-GB" sz="1800" b="1" i="0" dirty="0">
              <a:solidFill>
                <a:srgbClr val="92D050"/>
              </a:solidFill>
              <a:effectLst/>
              <a:latin typeface="-apple-system"/>
            </a:endParaRPr>
          </a:p>
          <a:p>
            <a:pPr algn="l"/>
            <a:r>
              <a:rPr lang="en-GB" sz="1800" b="1" i="0" dirty="0">
                <a:solidFill>
                  <a:srgbClr val="92D050"/>
                </a:solidFill>
                <a:effectLst/>
                <a:latin typeface="-apple-system"/>
              </a:rPr>
              <a:t>Demo Flow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Visit app → Use Demo Key → Upload 3 vehicle photos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AI identifies vehicle type (CLIP zero-shot + OpenCV heuristic)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60s assessment runs: geometry, deviations, feasibility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Report generated: confidence, risks, battery placement, wiring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Download STEP/STL via FreeCAD worker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800" b="0" i="0" dirty="0">
                <a:solidFill>
                  <a:schemeClr val="bg1"/>
                </a:solidFill>
                <a:effectLst/>
                <a:latin typeface="-apple-system"/>
              </a:rPr>
              <a:t>Knowledge graph shows related past retrofits</a:t>
            </a:r>
          </a:p>
        </p:txBody>
      </p:sp>
    </p:spTree>
    <p:extLst>
      <p:ext uri="{BB962C8B-B14F-4D97-AF65-F5344CB8AC3E}">
        <p14:creationId xmlns:p14="http://schemas.microsoft.com/office/powerpoint/2010/main" val="4102591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08C4E2-1D5A-8893-8A26-A5FB4E06D0B8}"/>
              </a:ext>
            </a:extLst>
          </p:cNvPr>
          <p:cNvSpPr txBox="1"/>
          <p:nvPr/>
        </p:nvSpPr>
        <p:spPr>
          <a:xfrm>
            <a:off x="562356" y="973158"/>
            <a:ext cx="833475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solidFill>
                  <a:srgbClr val="92D050"/>
                </a:solidFill>
                <a:effectLst/>
                <a:latin typeface="-apple-system"/>
              </a:rPr>
              <a:t>Thank You</a:t>
            </a:r>
          </a:p>
          <a:p>
            <a:pPr algn="l"/>
            <a:endParaRPr lang="en-GB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RetroMind AI — Making Every Retrofit Safer, Faster, and Smarter</a:t>
            </a:r>
          </a:p>
          <a:p>
            <a:pPr algn="l"/>
            <a:endParaRPr lang="en-GB" b="1" i="0" dirty="0">
              <a:solidFill>
                <a:srgbClr val="BBBEBF"/>
              </a:solidFill>
              <a:effectLst/>
              <a:latin typeface="-apple-system"/>
            </a:endParaRPr>
          </a:p>
          <a:p>
            <a:pPr algn="l"/>
            <a:r>
              <a:rPr lang="en-GB" i="0" dirty="0">
                <a:solidFill>
                  <a:srgbClr val="92D050"/>
                </a:solidFill>
                <a:effectLst/>
                <a:latin typeface="-apple-system"/>
              </a:rPr>
              <a:t>Team: </a:t>
            </a:r>
            <a:r>
              <a:rPr lang="en-GB" b="0" i="0" dirty="0">
                <a:solidFill>
                  <a:srgbClr val="BBBEBF"/>
                </a:solidFill>
                <a:effectLst/>
                <a:latin typeface="-apple-system"/>
              </a:rPr>
              <a:t>Ekemainai</a:t>
            </a:r>
          </a:p>
          <a:p>
            <a:pPr algn="l"/>
            <a:endParaRPr lang="en-GB" dirty="0">
              <a:solidFill>
                <a:srgbClr val="BBBEBF"/>
              </a:solidFill>
              <a:latin typeface="-apple-system"/>
            </a:endParaRPr>
          </a:p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RetroMind AI GitHub: </a:t>
            </a:r>
            <a:r>
              <a:rPr lang="en-GB" b="0" i="0" u="none" strike="noStrike" dirty="0">
                <a:solidFill>
                  <a:srgbClr val="48A0C7"/>
                </a:solidFill>
                <a:effectLst/>
                <a:latin typeface="-apple-system"/>
                <a:hlinkClick r:id="rId3"/>
              </a:rPr>
              <a:t>https://github.com/ekemainaiML/RetroMindAI</a:t>
            </a:r>
            <a:r>
              <a:rPr lang="en-GB" b="0" i="0" dirty="0">
                <a:solidFill>
                  <a:srgbClr val="BBBEBF"/>
                </a:solidFill>
                <a:effectLst/>
                <a:latin typeface="-apple-system"/>
              </a:rPr>
              <a:t> </a:t>
            </a:r>
          </a:p>
          <a:p>
            <a:pPr algn="l"/>
            <a:endParaRPr lang="en-GB" dirty="0">
              <a:solidFill>
                <a:srgbClr val="BBBEBF"/>
              </a:solidFill>
              <a:latin typeface="-apple-system"/>
            </a:endParaRPr>
          </a:p>
          <a:p>
            <a:pPr algn="l"/>
            <a:r>
              <a:rPr lang="en-GB" b="1" i="0" dirty="0">
                <a:solidFill>
                  <a:srgbClr val="92D050"/>
                </a:solidFill>
                <a:effectLst/>
                <a:latin typeface="-apple-system"/>
              </a:rPr>
              <a:t>Tech Stack: </a:t>
            </a:r>
            <a:r>
              <a:rPr lang="en-GB" b="0" i="0" dirty="0" err="1">
                <a:solidFill>
                  <a:srgbClr val="BBBEBF"/>
                </a:solidFill>
                <a:effectLst/>
                <a:latin typeface="-apple-system"/>
              </a:rPr>
              <a:t>Next.js</a:t>
            </a:r>
            <a:r>
              <a:rPr lang="en-GB" b="0" i="0" dirty="0">
                <a:solidFill>
                  <a:srgbClr val="BBBEBF"/>
                </a:solidFill>
                <a:effectLst/>
                <a:latin typeface="-apple-system"/>
              </a:rPr>
              <a:t> 16 · FastAPI · PostgreSQL · Neo4j · Redis · OpenCV · CLIP · ONNX · FreeCAD · Caddy · OCI</a:t>
            </a:r>
          </a:p>
          <a:p>
            <a:br>
              <a:rPr lang="en-GB" dirty="0"/>
            </a:br>
            <a:endParaRPr lang="en-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940</Words>
  <Application>Microsoft Macintosh PowerPoint</Application>
  <PresentationFormat>On-screen Show (16:9)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-apple-system</vt:lpstr>
      <vt:lpstr>Arial</vt:lpstr>
      <vt:lpstr>Simple Light</vt:lpstr>
      <vt:lpstr>ET AutoTech Hackathon 2026</vt:lpstr>
      <vt:lpstr>Theme Chosen - Brief Summary &amp; Proposed Solution/Idea</vt:lpstr>
      <vt:lpstr>Impact of Proposed Solution</vt:lpstr>
      <vt:lpstr>Tech Stack &amp; Architecture</vt:lpstr>
      <vt:lpstr>Architecture &amp; Demo</vt:lpstr>
      <vt:lpstr>RetroMind AI – Landing Page Screenshots</vt:lpstr>
      <vt:lpstr>RetroMind AI – New Retrofit Assessment page Screenshot</vt:lpstr>
      <vt:lpstr>RetroMind AI – Compliance Report Page Screenshot</vt:lpstr>
      <vt:lpstr>RetroMind AI – Settings Page Screenshot</vt:lpstr>
      <vt:lpstr>RetroMind AI – Assessment History Page Screenshot</vt:lpstr>
      <vt:lpstr>RetroMind AI – Knowledge Graph Page Screenshot</vt:lpstr>
      <vt:lpstr>RetroMind AI – Workshop Analytics Page Screenshot</vt:lpstr>
      <vt:lpstr>RetroMind AI – Admin Dashboard Page Screenshot</vt:lpstr>
      <vt:lpstr>Why Your Solution Must Be Considered</vt:lpstr>
      <vt:lpstr>Any Additional Information</vt:lpstr>
      <vt:lpstr>Any Additional Information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AutoTech Hackathon 2026</dc:title>
  <cp:lastModifiedBy>Ekemini Stephen</cp:lastModifiedBy>
  <cp:revision>28</cp:revision>
  <dcterms:modified xsi:type="dcterms:W3CDTF">2026-06-04T21:26:06Z</dcterms:modified>
</cp:coreProperties>
</file>